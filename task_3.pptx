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2FAF57-7340-46F2-9EFA-878B531FAC41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AD5DC61-6E8D-42FD-ACAA-7EDAC2479309}">
      <dgm:prSet/>
      <dgm:spPr/>
      <dgm:t>
        <a:bodyPr/>
        <a:lstStyle/>
        <a:p>
          <a:r>
            <a:rPr lang="en-US" b="1"/>
            <a:t>KEY FINDINGS:</a:t>
          </a:r>
          <a:endParaRPr lang="en-US"/>
        </a:p>
      </dgm:t>
    </dgm:pt>
    <dgm:pt modelId="{B996EA89-7655-4505-8C7A-A96B6875FD04}" type="parTrans" cxnId="{097F3C8D-9771-425D-AF8E-8661593A06CB}">
      <dgm:prSet/>
      <dgm:spPr/>
      <dgm:t>
        <a:bodyPr/>
        <a:lstStyle/>
        <a:p>
          <a:endParaRPr lang="en-US"/>
        </a:p>
      </dgm:t>
    </dgm:pt>
    <dgm:pt modelId="{5E1F11AC-76B9-483C-B570-31981ADEA44B}" type="sibTrans" cxnId="{097F3C8D-9771-425D-AF8E-8661593A06CB}">
      <dgm:prSet/>
      <dgm:spPr/>
      <dgm:t>
        <a:bodyPr/>
        <a:lstStyle/>
        <a:p>
          <a:endParaRPr lang="en-US"/>
        </a:p>
      </dgm:t>
    </dgm:pt>
    <dgm:pt modelId="{7DB8EB18-9849-460B-8CC4-8A9F7497FAB2}">
      <dgm:prSet/>
      <dgm:spPr/>
      <dgm:t>
        <a:bodyPr/>
        <a:lstStyle/>
        <a:p>
          <a:r>
            <a:rPr lang="en-US"/>
            <a:t>• Mainstream Young Singles/Couples pay premium prices ($4.06/pack)</a:t>
          </a:r>
        </a:p>
      </dgm:t>
    </dgm:pt>
    <dgm:pt modelId="{09278D84-0B22-4F3C-88AD-0AECF2372C84}" type="parTrans" cxnId="{A1982935-3AA3-48F0-B485-81B5658728FE}">
      <dgm:prSet/>
      <dgm:spPr/>
      <dgm:t>
        <a:bodyPr/>
        <a:lstStyle/>
        <a:p>
          <a:endParaRPr lang="en-US"/>
        </a:p>
      </dgm:t>
    </dgm:pt>
    <dgm:pt modelId="{2DD4CCE1-3454-40E2-B5D2-30B38A883847}" type="sibTrans" cxnId="{A1982935-3AA3-48F0-B485-81B5658728FE}">
      <dgm:prSet/>
      <dgm:spPr/>
      <dgm:t>
        <a:bodyPr/>
        <a:lstStyle/>
        <a:p>
          <a:endParaRPr lang="en-US"/>
        </a:p>
      </dgm:t>
    </dgm:pt>
    <dgm:pt modelId="{64DA67EB-689E-4EA7-9108-31BAADDF38C0}">
      <dgm:prSet/>
      <dgm:spPr/>
      <dgm:t>
        <a:bodyPr/>
        <a:lstStyle/>
        <a:p>
          <a:r>
            <a:rPr lang="en-US"/>
            <a:t>• 175g pack size is the clear consumer favorite (60,000+ transactions)</a:t>
          </a:r>
        </a:p>
      </dgm:t>
    </dgm:pt>
    <dgm:pt modelId="{EA360F6A-DEB4-4A35-A6B2-4DF902149585}" type="parTrans" cxnId="{3B9AE106-467C-4E56-A5F9-95AFCDED0D05}">
      <dgm:prSet/>
      <dgm:spPr/>
      <dgm:t>
        <a:bodyPr/>
        <a:lstStyle/>
        <a:p>
          <a:endParaRPr lang="en-US"/>
        </a:p>
      </dgm:t>
    </dgm:pt>
    <dgm:pt modelId="{B51C4143-485B-4160-8167-645B8891C6CE}" type="sibTrans" cxnId="{3B9AE106-467C-4E56-A5F9-95AFCDED0D05}">
      <dgm:prSet/>
      <dgm:spPr/>
      <dgm:t>
        <a:bodyPr/>
        <a:lstStyle/>
        <a:p>
          <a:endParaRPr lang="en-US"/>
        </a:p>
      </dgm:t>
    </dgm:pt>
    <dgm:pt modelId="{D548C27A-4FF6-4A4F-84BD-AAC7E8B4DA1B}">
      <dgm:prSet/>
      <dgm:spPr/>
      <dgm:t>
        <a:bodyPr/>
        <a:lstStyle/>
        <a:p>
          <a:r>
            <a:rPr lang="en-US"/>
            <a:t>• Kettle ($386K) and Doritos ($186K) dominate 40% of market</a:t>
          </a:r>
        </a:p>
      </dgm:t>
    </dgm:pt>
    <dgm:pt modelId="{71253F75-FBA8-4505-AC48-3B262B126069}" type="parTrans" cxnId="{28AE7B33-96CE-4B78-A3AD-EFAB268BF083}">
      <dgm:prSet/>
      <dgm:spPr/>
      <dgm:t>
        <a:bodyPr/>
        <a:lstStyle/>
        <a:p>
          <a:endParaRPr lang="en-US"/>
        </a:p>
      </dgm:t>
    </dgm:pt>
    <dgm:pt modelId="{DBD19AA5-91B1-44EC-9A66-61A6A3E5E9CF}" type="sibTrans" cxnId="{28AE7B33-96CE-4B78-A3AD-EFAB268BF083}">
      <dgm:prSet/>
      <dgm:spPr/>
      <dgm:t>
        <a:bodyPr/>
        <a:lstStyle/>
        <a:p>
          <a:endParaRPr lang="en-US"/>
        </a:p>
      </dgm:t>
    </dgm:pt>
    <dgm:pt modelId="{DD9B195C-1485-4D4B-A8A4-DCEC8517DE88}">
      <dgm:prSet/>
      <dgm:spPr/>
      <dgm:t>
        <a:bodyPr/>
        <a:lstStyle/>
        <a:p>
          <a:r>
            <a:rPr lang="en-US"/>
            <a:t>• Store trial: 67% success rate (2 of 3 stores positive)</a:t>
          </a:r>
        </a:p>
      </dgm:t>
    </dgm:pt>
    <dgm:pt modelId="{9A21ABD7-72A9-470A-879B-3B181B68B2D9}" type="parTrans" cxnId="{66E7DBC7-F52A-4765-9EB7-ABDA7CC54F2F}">
      <dgm:prSet/>
      <dgm:spPr/>
      <dgm:t>
        <a:bodyPr/>
        <a:lstStyle/>
        <a:p>
          <a:endParaRPr lang="en-US"/>
        </a:p>
      </dgm:t>
    </dgm:pt>
    <dgm:pt modelId="{E4EEFC3D-D241-4E30-BEA6-4435C0FE85E0}" type="sibTrans" cxnId="{66E7DBC7-F52A-4765-9EB7-ABDA7CC54F2F}">
      <dgm:prSet/>
      <dgm:spPr/>
      <dgm:t>
        <a:bodyPr/>
        <a:lstStyle/>
        <a:p>
          <a:endParaRPr lang="en-US"/>
        </a:p>
      </dgm:t>
    </dgm:pt>
    <dgm:pt modelId="{CFEABA1E-B102-4DCD-9383-47591A64AE27}">
      <dgm:prSet/>
      <dgm:spPr/>
      <dgm:t>
        <a:bodyPr/>
        <a:lstStyle/>
        <a:p>
          <a:r>
            <a:rPr lang="en-US"/>
            <a:t>• Average impact across trial stores: +$37.90</a:t>
          </a:r>
        </a:p>
      </dgm:t>
    </dgm:pt>
    <dgm:pt modelId="{D6FCBB1E-2D64-4A23-B5B5-44AAE3CE29B4}" type="parTrans" cxnId="{CFE7402C-B7CF-4935-9F4D-19D0DB2B83F3}">
      <dgm:prSet/>
      <dgm:spPr/>
      <dgm:t>
        <a:bodyPr/>
        <a:lstStyle/>
        <a:p>
          <a:endParaRPr lang="en-US"/>
        </a:p>
      </dgm:t>
    </dgm:pt>
    <dgm:pt modelId="{56A83FBC-E8C5-436F-B9D0-D1032E353C26}" type="sibTrans" cxnId="{CFE7402C-B7CF-4935-9F4D-19D0DB2B83F3}">
      <dgm:prSet/>
      <dgm:spPr/>
      <dgm:t>
        <a:bodyPr/>
        <a:lstStyle/>
        <a:p>
          <a:endParaRPr lang="en-US"/>
        </a:p>
      </dgm:t>
    </dgm:pt>
    <dgm:pt modelId="{8D347CB7-066D-4518-A77D-881BFBCB8958}">
      <dgm:prSet/>
      <dgm:spPr/>
      <dgm:t>
        <a:bodyPr/>
        <a:lstStyle/>
        <a:p>
          <a:r>
            <a:rPr lang="en-US"/>
            <a:t>RECOMMENDATION: Target Mainstream segment, optimize 175g format, selectively scale trial</a:t>
          </a:r>
        </a:p>
      </dgm:t>
    </dgm:pt>
    <dgm:pt modelId="{A1512AB0-E7A1-4374-97C6-2E27535D844C}" type="parTrans" cxnId="{E3032FD8-F1C3-4C8D-964E-9E65E5CAC2C0}">
      <dgm:prSet/>
      <dgm:spPr/>
      <dgm:t>
        <a:bodyPr/>
        <a:lstStyle/>
        <a:p>
          <a:endParaRPr lang="en-US"/>
        </a:p>
      </dgm:t>
    </dgm:pt>
    <dgm:pt modelId="{38D095E5-528C-4B80-A0FC-FC08E5F87895}" type="sibTrans" cxnId="{E3032FD8-F1C3-4C8D-964E-9E65E5CAC2C0}">
      <dgm:prSet/>
      <dgm:spPr/>
      <dgm:t>
        <a:bodyPr/>
        <a:lstStyle/>
        <a:p>
          <a:endParaRPr lang="en-US"/>
        </a:p>
      </dgm:t>
    </dgm:pt>
    <dgm:pt modelId="{95A571CC-0798-4EFD-85F4-1472C7CB5908}" type="pres">
      <dgm:prSet presAssocID="{7F2FAF57-7340-46F2-9EFA-878B531FAC41}" presName="vert0" presStyleCnt="0">
        <dgm:presLayoutVars>
          <dgm:dir/>
          <dgm:animOne val="branch"/>
          <dgm:animLvl val="lvl"/>
        </dgm:presLayoutVars>
      </dgm:prSet>
      <dgm:spPr/>
    </dgm:pt>
    <dgm:pt modelId="{0F6DFDB5-0A56-47A1-8865-1102D0F5B5C5}" type="pres">
      <dgm:prSet presAssocID="{0AD5DC61-6E8D-42FD-ACAA-7EDAC2479309}" presName="thickLine" presStyleLbl="alignNode1" presStyleIdx="0" presStyleCnt="7"/>
      <dgm:spPr/>
    </dgm:pt>
    <dgm:pt modelId="{E70CB028-BB67-41D1-8EC5-A5D15B6FDF5F}" type="pres">
      <dgm:prSet presAssocID="{0AD5DC61-6E8D-42FD-ACAA-7EDAC2479309}" presName="horz1" presStyleCnt="0"/>
      <dgm:spPr/>
    </dgm:pt>
    <dgm:pt modelId="{C291F824-1D9E-4E07-84C4-445BDF99AF63}" type="pres">
      <dgm:prSet presAssocID="{0AD5DC61-6E8D-42FD-ACAA-7EDAC2479309}" presName="tx1" presStyleLbl="revTx" presStyleIdx="0" presStyleCnt="7"/>
      <dgm:spPr/>
    </dgm:pt>
    <dgm:pt modelId="{DEB881CF-EA8F-4536-9A0A-541C757DC2EF}" type="pres">
      <dgm:prSet presAssocID="{0AD5DC61-6E8D-42FD-ACAA-7EDAC2479309}" presName="vert1" presStyleCnt="0"/>
      <dgm:spPr/>
    </dgm:pt>
    <dgm:pt modelId="{DB71B1CC-09B2-4558-9866-F10CDE7DCE30}" type="pres">
      <dgm:prSet presAssocID="{7DB8EB18-9849-460B-8CC4-8A9F7497FAB2}" presName="thickLine" presStyleLbl="alignNode1" presStyleIdx="1" presStyleCnt="7"/>
      <dgm:spPr/>
    </dgm:pt>
    <dgm:pt modelId="{85E04AF6-17BF-4661-AC8D-DC773828D40E}" type="pres">
      <dgm:prSet presAssocID="{7DB8EB18-9849-460B-8CC4-8A9F7497FAB2}" presName="horz1" presStyleCnt="0"/>
      <dgm:spPr/>
    </dgm:pt>
    <dgm:pt modelId="{C96F5C30-C366-4FCB-9E11-234F105392F9}" type="pres">
      <dgm:prSet presAssocID="{7DB8EB18-9849-460B-8CC4-8A9F7497FAB2}" presName="tx1" presStyleLbl="revTx" presStyleIdx="1" presStyleCnt="7"/>
      <dgm:spPr/>
    </dgm:pt>
    <dgm:pt modelId="{3F8C2989-116D-4B7C-B45A-846504167EBE}" type="pres">
      <dgm:prSet presAssocID="{7DB8EB18-9849-460B-8CC4-8A9F7497FAB2}" presName="vert1" presStyleCnt="0"/>
      <dgm:spPr/>
    </dgm:pt>
    <dgm:pt modelId="{B6BFD64B-97B2-48DE-8362-BDBCDEDD84A1}" type="pres">
      <dgm:prSet presAssocID="{64DA67EB-689E-4EA7-9108-31BAADDF38C0}" presName="thickLine" presStyleLbl="alignNode1" presStyleIdx="2" presStyleCnt="7"/>
      <dgm:spPr/>
    </dgm:pt>
    <dgm:pt modelId="{E94ABCCB-FAC6-4E92-B749-306894E01E96}" type="pres">
      <dgm:prSet presAssocID="{64DA67EB-689E-4EA7-9108-31BAADDF38C0}" presName="horz1" presStyleCnt="0"/>
      <dgm:spPr/>
    </dgm:pt>
    <dgm:pt modelId="{B216C32E-057C-4788-8E2E-5FD91103E5E3}" type="pres">
      <dgm:prSet presAssocID="{64DA67EB-689E-4EA7-9108-31BAADDF38C0}" presName="tx1" presStyleLbl="revTx" presStyleIdx="2" presStyleCnt="7"/>
      <dgm:spPr/>
    </dgm:pt>
    <dgm:pt modelId="{D01644D8-647E-4E9B-93DF-D928ED1E3291}" type="pres">
      <dgm:prSet presAssocID="{64DA67EB-689E-4EA7-9108-31BAADDF38C0}" presName="vert1" presStyleCnt="0"/>
      <dgm:spPr/>
    </dgm:pt>
    <dgm:pt modelId="{56065556-BA3B-4A2C-A997-85C2086CDCD4}" type="pres">
      <dgm:prSet presAssocID="{D548C27A-4FF6-4A4F-84BD-AAC7E8B4DA1B}" presName="thickLine" presStyleLbl="alignNode1" presStyleIdx="3" presStyleCnt="7"/>
      <dgm:spPr/>
    </dgm:pt>
    <dgm:pt modelId="{A8402FE9-DEF2-4F41-964A-0B17F3316BC6}" type="pres">
      <dgm:prSet presAssocID="{D548C27A-4FF6-4A4F-84BD-AAC7E8B4DA1B}" presName="horz1" presStyleCnt="0"/>
      <dgm:spPr/>
    </dgm:pt>
    <dgm:pt modelId="{EE5D8341-2AC0-4E41-9255-811839E91C6C}" type="pres">
      <dgm:prSet presAssocID="{D548C27A-4FF6-4A4F-84BD-AAC7E8B4DA1B}" presName="tx1" presStyleLbl="revTx" presStyleIdx="3" presStyleCnt="7"/>
      <dgm:spPr/>
    </dgm:pt>
    <dgm:pt modelId="{9C89C477-F232-40E9-B59D-E9585BC2B647}" type="pres">
      <dgm:prSet presAssocID="{D548C27A-4FF6-4A4F-84BD-AAC7E8B4DA1B}" presName="vert1" presStyleCnt="0"/>
      <dgm:spPr/>
    </dgm:pt>
    <dgm:pt modelId="{2AB3A04D-119D-42BE-8096-CE7A38FBE9CC}" type="pres">
      <dgm:prSet presAssocID="{DD9B195C-1485-4D4B-A8A4-DCEC8517DE88}" presName="thickLine" presStyleLbl="alignNode1" presStyleIdx="4" presStyleCnt="7"/>
      <dgm:spPr/>
    </dgm:pt>
    <dgm:pt modelId="{CA8911A8-88E6-484E-ADFE-C9DBB0CAEDD5}" type="pres">
      <dgm:prSet presAssocID="{DD9B195C-1485-4D4B-A8A4-DCEC8517DE88}" presName="horz1" presStyleCnt="0"/>
      <dgm:spPr/>
    </dgm:pt>
    <dgm:pt modelId="{335DF5C3-CC0C-4A37-879E-AAB287831D15}" type="pres">
      <dgm:prSet presAssocID="{DD9B195C-1485-4D4B-A8A4-DCEC8517DE88}" presName="tx1" presStyleLbl="revTx" presStyleIdx="4" presStyleCnt="7"/>
      <dgm:spPr/>
    </dgm:pt>
    <dgm:pt modelId="{45D10DEE-8987-4AFC-B797-25A4CF76D02C}" type="pres">
      <dgm:prSet presAssocID="{DD9B195C-1485-4D4B-A8A4-DCEC8517DE88}" presName="vert1" presStyleCnt="0"/>
      <dgm:spPr/>
    </dgm:pt>
    <dgm:pt modelId="{5C8485D2-CB4E-4FEE-AC40-AE2CC35ED500}" type="pres">
      <dgm:prSet presAssocID="{CFEABA1E-B102-4DCD-9383-47591A64AE27}" presName="thickLine" presStyleLbl="alignNode1" presStyleIdx="5" presStyleCnt="7"/>
      <dgm:spPr/>
    </dgm:pt>
    <dgm:pt modelId="{0A3F834F-0C59-49A8-9794-E8D90AF05E11}" type="pres">
      <dgm:prSet presAssocID="{CFEABA1E-B102-4DCD-9383-47591A64AE27}" presName="horz1" presStyleCnt="0"/>
      <dgm:spPr/>
    </dgm:pt>
    <dgm:pt modelId="{F077E6E7-8308-40CE-9782-E44F5F996017}" type="pres">
      <dgm:prSet presAssocID="{CFEABA1E-B102-4DCD-9383-47591A64AE27}" presName="tx1" presStyleLbl="revTx" presStyleIdx="5" presStyleCnt="7"/>
      <dgm:spPr/>
    </dgm:pt>
    <dgm:pt modelId="{A1B18FD7-23DF-4CDD-9B1A-DB623D72F180}" type="pres">
      <dgm:prSet presAssocID="{CFEABA1E-B102-4DCD-9383-47591A64AE27}" presName="vert1" presStyleCnt="0"/>
      <dgm:spPr/>
    </dgm:pt>
    <dgm:pt modelId="{8E24C72D-4260-4C41-BBC3-9A20D1EB0E62}" type="pres">
      <dgm:prSet presAssocID="{8D347CB7-066D-4518-A77D-881BFBCB8958}" presName="thickLine" presStyleLbl="alignNode1" presStyleIdx="6" presStyleCnt="7"/>
      <dgm:spPr/>
    </dgm:pt>
    <dgm:pt modelId="{9916AB34-1F30-4A9A-8D35-8CF4D0BC9F97}" type="pres">
      <dgm:prSet presAssocID="{8D347CB7-066D-4518-A77D-881BFBCB8958}" presName="horz1" presStyleCnt="0"/>
      <dgm:spPr/>
    </dgm:pt>
    <dgm:pt modelId="{59280CCF-50AA-44CF-8DC0-F3B0837509FF}" type="pres">
      <dgm:prSet presAssocID="{8D347CB7-066D-4518-A77D-881BFBCB8958}" presName="tx1" presStyleLbl="revTx" presStyleIdx="6" presStyleCnt="7"/>
      <dgm:spPr/>
    </dgm:pt>
    <dgm:pt modelId="{864F3683-2044-48E7-8477-0F75BBC007F4}" type="pres">
      <dgm:prSet presAssocID="{8D347CB7-066D-4518-A77D-881BFBCB8958}" presName="vert1" presStyleCnt="0"/>
      <dgm:spPr/>
    </dgm:pt>
  </dgm:ptLst>
  <dgm:cxnLst>
    <dgm:cxn modelId="{3B9AE106-467C-4E56-A5F9-95AFCDED0D05}" srcId="{7F2FAF57-7340-46F2-9EFA-878B531FAC41}" destId="{64DA67EB-689E-4EA7-9108-31BAADDF38C0}" srcOrd="2" destOrd="0" parTransId="{EA360F6A-DEB4-4A35-A6B2-4DF902149585}" sibTransId="{B51C4143-485B-4160-8167-645B8891C6CE}"/>
    <dgm:cxn modelId="{5A537916-7A42-438B-99E3-862028BFF7E8}" type="presOf" srcId="{0AD5DC61-6E8D-42FD-ACAA-7EDAC2479309}" destId="{C291F824-1D9E-4E07-84C4-445BDF99AF63}" srcOrd="0" destOrd="0" presId="urn:microsoft.com/office/officeart/2008/layout/LinedList"/>
    <dgm:cxn modelId="{B7009024-4794-4D3C-A40E-CE5D0B5522DB}" type="presOf" srcId="{D548C27A-4FF6-4A4F-84BD-AAC7E8B4DA1B}" destId="{EE5D8341-2AC0-4E41-9255-811839E91C6C}" srcOrd="0" destOrd="0" presId="urn:microsoft.com/office/officeart/2008/layout/LinedList"/>
    <dgm:cxn modelId="{97502425-5F26-4B8C-959B-1090D634E0D8}" type="presOf" srcId="{8D347CB7-066D-4518-A77D-881BFBCB8958}" destId="{59280CCF-50AA-44CF-8DC0-F3B0837509FF}" srcOrd="0" destOrd="0" presId="urn:microsoft.com/office/officeart/2008/layout/LinedList"/>
    <dgm:cxn modelId="{CFE7402C-B7CF-4935-9F4D-19D0DB2B83F3}" srcId="{7F2FAF57-7340-46F2-9EFA-878B531FAC41}" destId="{CFEABA1E-B102-4DCD-9383-47591A64AE27}" srcOrd="5" destOrd="0" parTransId="{D6FCBB1E-2D64-4A23-B5B5-44AAE3CE29B4}" sibTransId="{56A83FBC-E8C5-436F-B9D0-D1032E353C26}"/>
    <dgm:cxn modelId="{28AE7B33-96CE-4B78-A3AD-EFAB268BF083}" srcId="{7F2FAF57-7340-46F2-9EFA-878B531FAC41}" destId="{D548C27A-4FF6-4A4F-84BD-AAC7E8B4DA1B}" srcOrd="3" destOrd="0" parTransId="{71253F75-FBA8-4505-AC48-3B262B126069}" sibTransId="{DBD19AA5-91B1-44EC-9A66-61A6A3E5E9CF}"/>
    <dgm:cxn modelId="{A1982935-3AA3-48F0-B485-81B5658728FE}" srcId="{7F2FAF57-7340-46F2-9EFA-878B531FAC41}" destId="{7DB8EB18-9849-460B-8CC4-8A9F7497FAB2}" srcOrd="1" destOrd="0" parTransId="{09278D84-0B22-4F3C-88AD-0AECF2372C84}" sibTransId="{2DD4CCE1-3454-40E2-B5D2-30B38A883847}"/>
    <dgm:cxn modelId="{8189973F-4FD2-4012-86FD-5997511CED88}" type="presOf" srcId="{CFEABA1E-B102-4DCD-9383-47591A64AE27}" destId="{F077E6E7-8308-40CE-9782-E44F5F996017}" srcOrd="0" destOrd="0" presId="urn:microsoft.com/office/officeart/2008/layout/LinedList"/>
    <dgm:cxn modelId="{D9C07842-BA07-49BE-956E-627A2E6F3380}" type="presOf" srcId="{DD9B195C-1485-4D4B-A8A4-DCEC8517DE88}" destId="{335DF5C3-CC0C-4A37-879E-AAB287831D15}" srcOrd="0" destOrd="0" presId="urn:microsoft.com/office/officeart/2008/layout/LinedList"/>
    <dgm:cxn modelId="{6BF2E244-E0AE-4348-BF49-3C6272D615E8}" type="presOf" srcId="{7F2FAF57-7340-46F2-9EFA-878B531FAC41}" destId="{95A571CC-0798-4EFD-85F4-1472C7CB5908}" srcOrd="0" destOrd="0" presId="urn:microsoft.com/office/officeart/2008/layout/LinedList"/>
    <dgm:cxn modelId="{ABF08969-FFEC-4255-86A0-BA9A61B82498}" type="presOf" srcId="{7DB8EB18-9849-460B-8CC4-8A9F7497FAB2}" destId="{C96F5C30-C366-4FCB-9E11-234F105392F9}" srcOrd="0" destOrd="0" presId="urn:microsoft.com/office/officeart/2008/layout/LinedList"/>
    <dgm:cxn modelId="{C3716987-DF03-4FF5-B527-A5EF42A737AC}" type="presOf" srcId="{64DA67EB-689E-4EA7-9108-31BAADDF38C0}" destId="{B216C32E-057C-4788-8E2E-5FD91103E5E3}" srcOrd="0" destOrd="0" presId="urn:microsoft.com/office/officeart/2008/layout/LinedList"/>
    <dgm:cxn modelId="{097F3C8D-9771-425D-AF8E-8661593A06CB}" srcId="{7F2FAF57-7340-46F2-9EFA-878B531FAC41}" destId="{0AD5DC61-6E8D-42FD-ACAA-7EDAC2479309}" srcOrd="0" destOrd="0" parTransId="{B996EA89-7655-4505-8C7A-A96B6875FD04}" sibTransId="{5E1F11AC-76B9-483C-B570-31981ADEA44B}"/>
    <dgm:cxn modelId="{66E7DBC7-F52A-4765-9EB7-ABDA7CC54F2F}" srcId="{7F2FAF57-7340-46F2-9EFA-878B531FAC41}" destId="{DD9B195C-1485-4D4B-A8A4-DCEC8517DE88}" srcOrd="4" destOrd="0" parTransId="{9A21ABD7-72A9-470A-879B-3B181B68B2D9}" sibTransId="{E4EEFC3D-D241-4E30-BEA6-4435C0FE85E0}"/>
    <dgm:cxn modelId="{E3032FD8-F1C3-4C8D-964E-9E65E5CAC2C0}" srcId="{7F2FAF57-7340-46F2-9EFA-878B531FAC41}" destId="{8D347CB7-066D-4518-A77D-881BFBCB8958}" srcOrd="6" destOrd="0" parTransId="{A1512AB0-E7A1-4374-97C6-2E27535D844C}" sibTransId="{38D095E5-528C-4B80-A0FC-FC08E5F87895}"/>
    <dgm:cxn modelId="{56F56004-D40B-4210-A964-2530B1EC51FF}" type="presParOf" srcId="{95A571CC-0798-4EFD-85F4-1472C7CB5908}" destId="{0F6DFDB5-0A56-47A1-8865-1102D0F5B5C5}" srcOrd="0" destOrd="0" presId="urn:microsoft.com/office/officeart/2008/layout/LinedList"/>
    <dgm:cxn modelId="{9AA9D3D5-0D9A-41DD-A278-5B9931CF49F8}" type="presParOf" srcId="{95A571CC-0798-4EFD-85F4-1472C7CB5908}" destId="{E70CB028-BB67-41D1-8EC5-A5D15B6FDF5F}" srcOrd="1" destOrd="0" presId="urn:microsoft.com/office/officeart/2008/layout/LinedList"/>
    <dgm:cxn modelId="{37254A6E-9661-46E9-BED7-2FAD3D2EA262}" type="presParOf" srcId="{E70CB028-BB67-41D1-8EC5-A5D15B6FDF5F}" destId="{C291F824-1D9E-4E07-84C4-445BDF99AF63}" srcOrd="0" destOrd="0" presId="urn:microsoft.com/office/officeart/2008/layout/LinedList"/>
    <dgm:cxn modelId="{BBFB1BFE-1E62-4E3A-95DD-46A9BCCCEC44}" type="presParOf" srcId="{E70CB028-BB67-41D1-8EC5-A5D15B6FDF5F}" destId="{DEB881CF-EA8F-4536-9A0A-541C757DC2EF}" srcOrd="1" destOrd="0" presId="urn:microsoft.com/office/officeart/2008/layout/LinedList"/>
    <dgm:cxn modelId="{2E83C49A-0FE9-4313-A0FE-81CE6CC73D6A}" type="presParOf" srcId="{95A571CC-0798-4EFD-85F4-1472C7CB5908}" destId="{DB71B1CC-09B2-4558-9866-F10CDE7DCE30}" srcOrd="2" destOrd="0" presId="urn:microsoft.com/office/officeart/2008/layout/LinedList"/>
    <dgm:cxn modelId="{B347EB8D-23E7-4383-82D3-0278C20B4526}" type="presParOf" srcId="{95A571CC-0798-4EFD-85F4-1472C7CB5908}" destId="{85E04AF6-17BF-4661-AC8D-DC773828D40E}" srcOrd="3" destOrd="0" presId="urn:microsoft.com/office/officeart/2008/layout/LinedList"/>
    <dgm:cxn modelId="{33129256-3A65-4DD9-990F-DA3C0E216E8E}" type="presParOf" srcId="{85E04AF6-17BF-4661-AC8D-DC773828D40E}" destId="{C96F5C30-C366-4FCB-9E11-234F105392F9}" srcOrd="0" destOrd="0" presId="urn:microsoft.com/office/officeart/2008/layout/LinedList"/>
    <dgm:cxn modelId="{35075714-DEF8-4D0F-B065-A403BF6D5882}" type="presParOf" srcId="{85E04AF6-17BF-4661-AC8D-DC773828D40E}" destId="{3F8C2989-116D-4B7C-B45A-846504167EBE}" srcOrd="1" destOrd="0" presId="urn:microsoft.com/office/officeart/2008/layout/LinedList"/>
    <dgm:cxn modelId="{ECB45D93-5ABD-4B5D-9AFD-DCF26E5CBD8B}" type="presParOf" srcId="{95A571CC-0798-4EFD-85F4-1472C7CB5908}" destId="{B6BFD64B-97B2-48DE-8362-BDBCDEDD84A1}" srcOrd="4" destOrd="0" presId="urn:microsoft.com/office/officeart/2008/layout/LinedList"/>
    <dgm:cxn modelId="{ABC950B4-0D04-4EDE-8F8E-9F5D0AB2F343}" type="presParOf" srcId="{95A571CC-0798-4EFD-85F4-1472C7CB5908}" destId="{E94ABCCB-FAC6-4E92-B749-306894E01E96}" srcOrd="5" destOrd="0" presId="urn:microsoft.com/office/officeart/2008/layout/LinedList"/>
    <dgm:cxn modelId="{0031A58C-8218-4676-8E95-431183B25E0A}" type="presParOf" srcId="{E94ABCCB-FAC6-4E92-B749-306894E01E96}" destId="{B216C32E-057C-4788-8E2E-5FD91103E5E3}" srcOrd="0" destOrd="0" presId="urn:microsoft.com/office/officeart/2008/layout/LinedList"/>
    <dgm:cxn modelId="{3BAC3A86-F23A-44EF-A572-79CA50B803F7}" type="presParOf" srcId="{E94ABCCB-FAC6-4E92-B749-306894E01E96}" destId="{D01644D8-647E-4E9B-93DF-D928ED1E3291}" srcOrd="1" destOrd="0" presId="urn:microsoft.com/office/officeart/2008/layout/LinedList"/>
    <dgm:cxn modelId="{7C5A79AA-916F-4F30-B762-0BBD7B3A0ECD}" type="presParOf" srcId="{95A571CC-0798-4EFD-85F4-1472C7CB5908}" destId="{56065556-BA3B-4A2C-A997-85C2086CDCD4}" srcOrd="6" destOrd="0" presId="urn:microsoft.com/office/officeart/2008/layout/LinedList"/>
    <dgm:cxn modelId="{0C5C2188-C721-404D-956C-0B8820A0D495}" type="presParOf" srcId="{95A571CC-0798-4EFD-85F4-1472C7CB5908}" destId="{A8402FE9-DEF2-4F41-964A-0B17F3316BC6}" srcOrd="7" destOrd="0" presId="urn:microsoft.com/office/officeart/2008/layout/LinedList"/>
    <dgm:cxn modelId="{02B5149C-5D10-44F5-A531-EC9080B380A3}" type="presParOf" srcId="{A8402FE9-DEF2-4F41-964A-0B17F3316BC6}" destId="{EE5D8341-2AC0-4E41-9255-811839E91C6C}" srcOrd="0" destOrd="0" presId="urn:microsoft.com/office/officeart/2008/layout/LinedList"/>
    <dgm:cxn modelId="{52B51294-C284-4A5D-A52C-444FE25E7C5D}" type="presParOf" srcId="{A8402FE9-DEF2-4F41-964A-0B17F3316BC6}" destId="{9C89C477-F232-40E9-B59D-E9585BC2B647}" srcOrd="1" destOrd="0" presId="urn:microsoft.com/office/officeart/2008/layout/LinedList"/>
    <dgm:cxn modelId="{69105F94-A0CA-47CE-A0AD-363F8F142733}" type="presParOf" srcId="{95A571CC-0798-4EFD-85F4-1472C7CB5908}" destId="{2AB3A04D-119D-42BE-8096-CE7A38FBE9CC}" srcOrd="8" destOrd="0" presId="urn:microsoft.com/office/officeart/2008/layout/LinedList"/>
    <dgm:cxn modelId="{116DAA31-E958-4C75-AF2A-FAB78520C625}" type="presParOf" srcId="{95A571CC-0798-4EFD-85F4-1472C7CB5908}" destId="{CA8911A8-88E6-484E-ADFE-C9DBB0CAEDD5}" srcOrd="9" destOrd="0" presId="urn:microsoft.com/office/officeart/2008/layout/LinedList"/>
    <dgm:cxn modelId="{8229F4B9-895E-458A-92B2-1B81D6C77195}" type="presParOf" srcId="{CA8911A8-88E6-484E-ADFE-C9DBB0CAEDD5}" destId="{335DF5C3-CC0C-4A37-879E-AAB287831D15}" srcOrd="0" destOrd="0" presId="urn:microsoft.com/office/officeart/2008/layout/LinedList"/>
    <dgm:cxn modelId="{81FC2B42-5643-49B1-A593-94B59BD5E3F2}" type="presParOf" srcId="{CA8911A8-88E6-484E-ADFE-C9DBB0CAEDD5}" destId="{45D10DEE-8987-4AFC-B797-25A4CF76D02C}" srcOrd="1" destOrd="0" presId="urn:microsoft.com/office/officeart/2008/layout/LinedList"/>
    <dgm:cxn modelId="{17B2C733-2617-42C2-89FB-06C85A766BC5}" type="presParOf" srcId="{95A571CC-0798-4EFD-85F4-1472C7CB5908}" destId="{5C8485D2-CB4E-4FEE-AC40-AE2CC35ED500}" srcOrd="10" destOrd="0" presId="urn:microsoft.com/office/officeart/2008/layout/LinedList"/>
    <dgm:cxn modelId="{20FAA417-7722-4DB3-8C8D-35523506318E}" type="presParOf" srcId="{95A571CC-0798-4EFD-85F4-1472C7CB5908}" destId="{0A3F834F-0C59-49A8-9794-E8D90AF05E11}" srcOrd="11" destOrd="0" presId="urn:microsoft.com/office/officeart/2008/layout/LinedList"/>
    <dgm:cxn modelId="{0735A6DE-3ABF-49C2-9222-9A7435F02D6F}" type="presParOf" srcId="{0A3F834F-0C59-49A8-9794-E8D90AF05E11}" destId="{F077E6E7-8308-40CE-9782-E44F5F996017}" srcOrd="0" destOrd="0" presId="urn:microsoft.com/office/officeart/2008/layout/LinedList"/>
    <dgm:cxn modelId="{FF50FED8-B524-472B-A5DA-0BD3CA70AC35}" type="presParOf" srcId="{0A3F834F-0C59-49A8-9794-E8D90AF05E11}" destId="{A1B18FD7-23DF-4CDD-9B1A-DB623D72F180}" srcOrd="1" destOrd="0" presId="urn:microsoft.com/office/officeart/2008/layout/LinedList"/>
    <dgm:cxn modelId="{A86CDAF4-240D-414B-B93D-52C55CC71273}" type="presParOf" srcId="{95A571CC-0798-4EFD-85F4-1472C7CB5908}" destId="{8E24C72D-4260-4C41-BBC3-9A20D1EB0E62}" srcOrd="12" destOrd="0" presId="urn:microsoft.com/office/officeart/2008/layout/LinedList"/>
    <dgm:cxn modelId="{DAC205B2-F02B-4408-A90C-304B5BF94188}" type="presParOf" srcId="{95A571CC-0798-4EFD-85F4-1472C7CB5908}" destId="{9916AB34-1F30-4A9A-8D35-8CF4D0BC9F97}" srcOrd="13" destOrd="0" presId="urn:microsoft.com/office/officeart/2008/layout/LinedList"/>
    <dgm:cxn modelId="{B7E8F29A-9D3B-4F71-86E8-387748A11196}" type="presParOf" srcId="{9916AB34-1F30-4A9A-8D35-8CF4D0BC9F97}" destId="{59280CCF-50AA-44CF-8DC0-F3B0837509FF}" srcOrd="0" destOrd="0" presId="urn:microsoft.com/office/officeart/2008/layout/LinedList"/>
    <dgm:cxn modelId="{D364F73D-2B78-4E05-A1CE-CF1C7189B05D}" type="presParOf" srcId="{9916AB34-1F30-4A9A-8D35-8CF4D0BC9F97}" destId="{864F3683-2044-48E7-8477-0F75BBC007F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20AD09-D914-4BDC-9A25-54954FBF9BDC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3EC755-A534-4E28-B4C8-8A931178E27A}">
      <dgm:prSet custT="1"/>
      <dgm:spPr/>
      <dgm:t>
        <a:bodyPr/>
        <a:lstStyle/>
        <a:p>
          <a:r>
            <a:rPr lang="en-US" sz="4000" dirty="0"/>
            <a:t>Performance Analysis, 2018–2019</a:t>
          </a:r>
        </a:p>
      </dgm:t>
    </dgm:pt>
    <dgm:pt modelId="{98E25C28-9737-4504-8C18-EC10E8B4E7E3}" type="parTrans" cxnId="{27885E0E-13EB-4195-840F-5814EB2C4290}">
      <dgm:prSet/>
      <dgm:spPr/>
      <dgm:t>
        <a:bodyPr/>
        <a:lstStyle/>
        <a:p>
          <a:endParaRPr lang="en-US"/>
        </a:p>
      </dgm:t>
    </dgm:pt>
    <dgm:pt modelId="{7250B9F4-26A8-4088-B062-731FBEF192E8}" type="sibTrans" cxnId="{27885E0E-13EB-4195-840F-5814EB2C4290}">
      <dgm:prSet/>
      <dgm:spPr/>
      <dgm:t>
        <a:bodyPr/>
        <a:lstStyle/>
        <a:p>
          <a:endParaRPr lang="en-US"/>
        </a:p>
      </dgm:t>
    </dgm:pt>
    <dgm:pt modelId="{D6005A82-AA77-4AE9-A851-777AB2313492}">
      <dgm:prSet custT="1"/>
      <dgm:spPr/>
      <dgm:t>
        <a:bodyPr/>
        <a:lstStyle/>
        <a:p>
          <a:r>
            <a:rPr lang="en-US" sz="4000" dirty="0"/>
            <a:t>Purpose: Introduce the report and set the stage.</a:t>
          </a:r>
        </a:p>
      </dgm:t>
    </dgm:pt>
    <dgm:pt modelId="{13FD044F-21AE-4500-917E-5C657D6B2A4B}" type="parTrans" cxnId="{5E517EA1-1F63-4E82-BF4F-F445EE0F79BA}">
      <dgm:prSet/>
      <dgm:spPr/>
      <dgm:t>
        <a:bodyPr/>
        <a:lstStyle/>
        <a:p>
          <a:endParaRPr lang="en-US"/>
        </a:p>
      </dgm:t>
    </dgm:pt>
    <dgm:pt modelId="{C1B8B996-E81F-4E39-9A1C-BB81FBDF83C8}" type="sibTrans" cxnId="{5E517EA1-1F63-4E82-BF4F-F445EE0F79BA}">
      <dgm:prSet/>
      <dgm:spPr/>
      <dgm:t>
        <a:bodyPr/>
        <a:lstStyle/>
        <a:p>
          <a:endParaRPr lang="en-US"/>
        </a:p>
      </dgm:t>
    </dgm:pt>
    <dgm:pt modelId="{6ED3991C-9DB6-4E02-82DD-DEAC595D43EB}" type="pres">
      <dgm:prSet presAssocID="{1120AD09-D914-4BDC-9A25-54954FBF9BDC}" presName="diagram" presStyleCnt="0">
        <dgm:presLayoutVars>
          <dgm:dir/>
          <dgm:resizeHandles val="exact"/>
        </dgm:presLayoutVars>
      </dgm:prSet>
      <dgm:spPr/>
    </dgm:pt>
    <dgm:pt modelId="{9E006F7C-EF43-4EAC-A5CF-3704E81E653F}" type="pres">
      <dgm:prSet presAssocID="{343EC755-A534-4E28-B4C8-8A931178E27A}" presName="node" presStyleLbl="node1" presStyleIdx="0" presStyleCnt="2">
        <dgm:presLayoutVars>
          <dgm:bulletEnabled val="1"/>
        </dgm:presLayoutVars>
      </dgm:prSet>
      <dgm:spPr/>
    </dgm:pt>
    <dgm:pt modelId="{4E8742A1-6492-456D-92B9-517FC181AFF2}" type="pres">
      <dgm:prSet presAssocID="{7250B9F4-26A8-4088-B062-731FBEF192E8}" presName="sibTrans" presStyleCnt="0"/>
      <dgm:spPr/>
    </dgm:pt>
    <dgm:pt modelId="{97346038-B021-47C7-A751-775E43F42B57}" type="pres">
      <dgm:prSet presAssocID="{D6005A82-AA77-4AE9-A851-777AB2313492}" presName="node" presStyleLbl="node1" presStyleIdx="1" presStyleCnt="2">
        <dgm:presLayoutVars>
          <dgm:bulletEnabled val="1"/>
        </dgm:presLayoutVars>
      </dgm:prSet>
      <dgm:spPr/>
    </dgm:pt>
  </dgm:ptLst>
  <dgm:cxnLst>
    <dgm:cxn modelId="{27885E0E-13EB-4195-840F-5814EB2C4290}" srcId="{1120AD09-D914-4BDC-9A25-54954FBF9BDC}" destId="{343EC755-A534-4E28-B4C8-8A931178E27A}" srcOrd="0" destOrd="0" parTransId="{98E25C28-9737-4504-8C18-EC10E8B4E7E3}" sibTransId="{7250B9F4-26A8-4088-B062-731FBEF192E8}"/>
    <dgm:cxn modelId="{CB427A83-5512-494F-8719-ABE4802B7CEA}" type="presOf" srcId="{343EC755-A534-4E28-B4C8-8A931178E27A}" destId="{9E006F7C-EF43-4EAC-A5CF-3704E81E653F}" srcOrd="0" destOrd="0" presId="urn:microsoft.com/office/officeart/2005/8/layout/default"/>
    <dgm:cxn modelId="{5E517EA1-1F63-4E82-BF4F-F445EE0F79BA}" srcId="{1120AD09-D914-4BDC-9A25-54954FBF9BDC}" destId="{D6005A82-AA77-4AE9-A851-777AB2313492}" srcOrd="1" destOrd="0" parTransId="{13FD044F-21AE-4500-917E-5C657D6B2A4B}" sibTransId="{C1B8B996-E81F-4E39-9A1C-BB81FBDF83C8}"/>
    <dgm:cxn modelId="{D1F0F9E2-B723-48A7-8C4D-896214E0C681}" type="presOf" srcId="{1120AD09-D914-4BDC-9A25-54954FBF9BDC}" destId="{6ED3991C-9DB6-4E02-82DD-DEAC595D43EB}" srcOrd="0" destOrd="0" presId="urn:microsoft.com/office/officeart/2005/8/layout/default"/>
    <dgm:cxn modelId="{3A52C4E6-A3BC-4032-9DFE-3C7820E295B1}" type="presOf" srcId="{D6005A82-AA77-4AE9-A851-777AB2313492}" destId="{97346038-B021-47C7-A751-775E43F42B57}" srcOrd="0" destOrd="0" presId="urn:microsoft.com/office/officeart/2005/8/layout/default"/>
    <dgm:cxn modelId="{C9AADF7B-A7BB-46D6-A126-BC871D7784D2}" type="presParOf" srcId="{6ED3991C-9DB6-4E02-82DD-DEAC595D43EB}" destId="{9E006F7C-EF43-4EAC-A5CF-3704E81E653F}" srcOrd="0" destOrd="0" presId="urn:microsoft.com/office/officeart/2005/8/layout/default"/>
    <dgm:cxn modelId="{7F05FEBD-C8E9-42AE-8B07-1D60392DF160}" type="presParOf" srcId="{6ED3991C-9DB6-4E02-82DD-DEAC595D43EB}" destId="{4E8742A1-6492-456D-92B9-517FC181AFF2}" srcOrd="1" destOrd="0" presId="urn:microsoft.com/office/officeart/2005/8/layout/default"/>
    <dgm:cxn modelId="{DEC0D8DC-9933-4DB0-A0AE-1D2B37264751}" type="presParOf" srcId="{6ED3991C-9DB6-4E02-82DD-DEAC595D43EB}" destId="{97346038-B021-47C7-A751-775E43F42B5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DA09E2-23AE-4C07-B975-782FC1D1164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FF88462-75D9-4C1E-BF58-D43E133DA271}">
      <dgm:prSet/>
      <dgm:spPr/>
      <dgm:t>
        <a:bodyPr/>
        <a:lstStyle/>
        <a:p>
          <a:r>
            <a:rPr lang="en-US"/>
            <a:t>RESULT: NO POSITIVE EFFECT - Negative impact of -$70.74</a:t>
          </a:r>
        </a:p>
      </dgm:t>
    </dgm:pt>
    <dgm:pt modelId="{393CD070-AAD5-4354-804E-771C8A706FFA}" type="parTrans" cxnId="{5122E320-9F56-4E72-9AAB-7F9B343B134D}">
      <dgm:prSet/>
      <dgm:spPr/>
      <dgm:t>
        <a:bodyPr/>
        <a:lstStyle/>
        <a:p>
          <a:endParaRPr lang="en-US"/>
        </a:p>
      </dgm:t>
    </dgm:pt>
    <dgm:pt modelId="{2C196A09-7742-49F4-910A-9F69B4757AE5}" type="sibTrans" cxnId="{5122E320-9F56-4E72-9AAB-7F9B343B134D}">
      <dgm:prSet/>
      <dgm:spPr/>
      <dgm:t>
        <a:bodyPr/>
        <a:lstStyle/>
        <a:p>
          <a:endParaRPr lang="en-US"/>
        </a:p>
      </dgm:t>
    </dgm:pt>
    <dgm:pt modelId="{6F0E886D-D26B-4346-B6F0-ED8D402B99F5}">
      <dgm:prSet/>
      <dgm:spPr/>
      <dgm:t>
        <a:bodyPr/>
        <a:lstStyle/>
        <a:p>
          <a:r>
            <a:rPr lang="en-US"/>
            <a:t>• Trial store sales increased by $16.29</a:t>
          </a:r>
        </a:p>
      </dgm:t>
    </dgm:pt>
    <dgm:pt modelId="{B8E3C8E5-A68C-4CE0-B47B-442617E05C6D}" type="parTrans" cxnId="{62EBB604-B7DA-47D2-B6FB-92C25DBCFAD2}">
      <dgm:prSet/>
      <dgm:spPr/>
      <dgm:t>
        <a:bodyPr/>
        <a:lstStyle/>
        <a:p>
          <a:endParaRPr lang="en-US"/>
        </a:p>
      </dgm:t>
    </dgm:pt>
    <dgm:pt modelId="{46679D86-0EBC-452F-A0AC-CFD2B23FED3A}" type="sibTrans" cxnId="{62EBB604-B7DA-47D2-B6FB-92C25DBCFAD2}">
      <dgm:prSet/>
      <dgm:spPr/>
      <dgm:t>
        <a:bodyPr/>
        <a:lstStyle/>
        <a:p>
          <a:endParaRPr lang="en-US"/>
        </a:p>
      </dgm:t>
    </dgm:pt>
    <dgm:pt modelId="{019D443B-3B54-4015-8152-EF58097C2C5E}">
      <dgm:prSet/>
      <dgm:spPr/>
      <dgm:t>
        <a:bodyPr/>
        <a:lstStyle/>
        <a:p>
          <a:r>
            <a:rPr lang="en-US"/>
            <a:t>• Control store sales increased by $87.02</a:t>
          </a:r>
        </a:p>
      </dgm:t>
    </dgm:pt>
    <dgm:pt modelId="{4065C11C-FC9F-4A91-853C-599198116C1D}" type="parTrans" cxnId="{DBC21030-BB11-4CE5-BDD2-0DEE45801B0F}">
      <dgm:prSet/>
      <dgm:spPr/>
      <dgm:t>
        <a:bodyPr/>
        <a:lstStyle/>
        <a:p>
          <a:endParaRPr lang="en-US"/>
        </a:p>
      </dgm:t>
    </dgm:pt>
    <dgm:pt modelId="{2FB2B392-C56A-41E7-B232-4DD7625199C7}" type="sibTrans" cxnId="{DBC21030-BB11-4CE5-BDD2-0DEE45801B0F}">
      <dgm:prSet/>
      <dgm:spPr/>
      <dgm:t>
        <a:bodyPr/>
        <a:lstStyle/>
        <a:p>
          <a:endParaRPr lang="en-US"/>
        </a:p>
      </dgm:t>
    </dgm:pt>
    <dgm:pt modelId="{6F51B245-DD7E-4CBC-88A3-E03216C22A6D}">
      <dgm:prSet/>
      <dgm:spPr/>
      <dgm:t>
        <a:bodyPr/>
        <a:lstStyle/>
        <a:p>
          <a:r>
            <a:rPr lang="en-US"/>
            <a:t>• Trial store underperformed relative to control</a:t>
          </a:r>
        </a:p>
      </dgm:t>
    </dgm:pt>
    <dgm:pt modelId="{F7C047B2-9DE0-44C2-BB75-24B64C9C61BF}" type="parTrans" cxnId="{088A142E-A974-4AD4-8EB3-2DC190B57F9C}">
      <dgm:prSet/>
      <dgm:spPr/>
      <dgm:t>
        <a:bodyPr/>
        <a:lstStyle/>
        <a:p>
          <a:endParaRPr lang="en-US"/>
        </a:p>
      </dgm:t>
    </dgm:pt>
    <dgm:pt modelId="{70602D21-E42D-4DC6-B47D-01CAB446C76E}" type="sibTrans" cxnId="{088A142E-A974-4AD4-8EB3-2DC190B57F9C}">
      <dgm:prSet/>
      <dgm:spPr/>
      <dgm:t>
        <a:bodyPr/>
        <a:lstStyle/>
        <a:p>
          <a:endParaRPr lang="en-US"/>
        </a:p>
      </dgm:t>
    </dgm:pt>
    <dgm:pt modelId="{C2C37AB7-5E47-4FF2-8714-51896FCE11AA}" type="pres">
      <dgm:prSet presAssocID="{B7DA09E2-23AE-4C07-B975-782FC1D1164E}" presName="linear" presStyleCnt="0">
        <dgm:presLayoutVars>
          <dgm:animLvl val="lvl"/>
          <dgm:resizeHandles val="exact"/>
        </dgm:presLayoutVars>
      </dgm:prSet>
      <dgm:spPr/>
    </dgm:pt>
    <dgm:pt modelId="{B4D6CDB9-6B28-450E-BC80-07FD7205AF27}" type="pres">
      <dgm:prSet presAssocID="{EFF88462-75D9-4C1E-BF58-D43E133DA2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A2EEAA-3794-46E4-8EFA-FC74B117F281}" type="pres">
      <dgm:prSet presAssocID="{2C196A09-7742-49F4-910A-9F69B4757AE5}" presName="spacer" presStyleCnt="0"/>
      <dgm:spPr/>
    </dgm:pt>
    <dgm:pt modelId="{CC5A3FE9-6B76-43EB-B011-E67DB67C7088}" type="pres">
      <dgm:prSet presAssocID="{6F0E886D-D26B-4346-B6F0-ED8D402B99F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5E9B43A-AA2D-4917-ABB4-08AF5F017354}" type="pres">
      <dgm:prSet presAssocID="{46679D86-0EBC-452F-A0AC-CFD2B23FED3A}" presName="spacer" presStyleCnt="0"/>
      <dgm:spPr/>
    </dgm:pt>
    <dgm:pt modelId="{B06AE99C-B4F7-48B8-8F95-257A2DA0D33E}" type="pres">
      <dgm:prSet presAssocID="{019D443B-3B54-4015-8152-EF58097C2C5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17BBEB7-9ACB-4B8F-A21F-B2CAE5B7D454}" type="pres">
      <dgm:prSet presAssocID="{2FB2B392-C56A-41E7-B232-4DD7625199C7}" presName="spacer" presStyleCnt="0"/>
      <dgm:spPr/>
    </dgm:pt>
    <dgm:pt modelId="{DBFD2FD6-FE77-42CD-976D-006AC48A91F3}" type="pres">
      <dgm:prSet presAssocID="{6F51B245-DD7E-4CBC-88A3-E03216C22A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2EBB604-B7DA-47D2-B6FB-92C25DBCFAD2}" srcId="{B7DA09E2-23AE-4C07-B975-782FC1D1164E}" destId="{6F0E886D-D26B-4346-B6F0-ED8D402B99F5}" srcOrd="1" destOrd="0" parTransId="{B8E3C8E5-A68C-4CE0-B47B-442617E05C6D}" sibTransId="{46679D86-0EBC-452F-A0AC-CFD2B23FED3A}"/>
    <dgm:cxn modelId="{2952D018-F20B-4DD9-A535-4CE2A03F69D4}" type="presOf" srcId="{EFF88462-75D9-4C1E-BF58-D43E133DA271}" destId="{B4D6CDB9-6B28-450E-BC80-07FD7205AF27}" srcOrd="0" destOrd="0" presId="urn:microsoft.com/office/officeart/2005/8/layout/vList2"/>
    <dgm:cxn modelId="{5122E320-9F56-4E72-9AAB-7F9B343B134D}" srcId="{B7DA09E2-23AE-4C07-B975-782FC1D1164E}" destId="{EFF88462-75D9-4C1E-BF58-D43E133DA271}" srcOrd="0" destOrd="0" parTransId="{393CD070-AAD5-4354-804E-771C8A706FFA}" sibTransId="{2C196A09-7742-49F4-910A-9F69B4757AE5}"/>
    <dgm:cxn modelId="{088A142E-A974-4AD4-8EB3-2DC190B57F9C}" srcId="{B7DA09E2-23AE-4C07-B975-782FC1D1164E}" destId="{6F51B245-DD7E-4CBC-88A3-E03216C22A6D}" srcOrd="3" destOrd="0" parTransId="{F7C047B2-9DE0-44C2-BB75-24B64C9C61BF}" sibTransId="{70602D21-E42D-4DC6-B47D-01CAB446C76E}"/>
    <dgm:cxn modelId="{1540A12F-ACC7-46EC-AA58-3F1FFD0C9563}" type="presOf" srcId="{B7DA09E2-23AE-4C07-B975-782FC1D1164E}" destId="{C2C37AB7-5E47-4FF2-8714-51896FCE11AA}" srcOrd="0" destOrd="0" presId="urn:microsoft.com/office/officeart/2005/8/layout/vList2"/>
    <dgm:cxn modelId="{DBC21030-BB11-4CE5-BDD2-0DEE45801B0F}" srcId="{B7DA09E2-23AE-4C07-B975-782FC1D1164E}" destId="{019D443B-3B54-4015-8152-EF58097C2C5E}" srcOrd="2" destOrd="0" parTransId="{4065C11C-FC9F-4A91-853C-599198116C1D}" sibTransId="{2FB2B392-C56A-41E7-B232-4DD7625199C7}"/>
    <dgm:cxn modelId="{2684597A-2569-4FFA-A9D4-1AAA52E1EDB1}" type="presOf" srcId="{6F0E886D-D26B-4346-B6F0-ED8D402B99F5}" destId="{CC5A3FE9-6B76-43EB-B011-E67DB67C7088}" srcOrd="0" destOrd="0" presId="urn:microsoft.com/office/officeart/2005/8/layout/vList2"/>
    <dgm:cxn modelId="{1E532484-B388-4B1F-8CEB-4E5C2EE2C96E}" type="presOf" srcId="{019D443B-3B54-4015-8152-EF58097C2C5E}" destId="{B06AE99C-B4F7-48B8-8F95-257A2DA0D33E}" srcOrd="0" destOrd="0" presId="urn:microsoft.com/office/officeart/2005/8/layout/vList2"/>
    <dgm:cxn modelId="{9C259CD2-5665-4ACF-94FC-339C96C49279}" type="presOf" srcId="{6F51B245-DD7E-4CBC-88A3-E03216C22A6D}" destId="{DBFD2FD6-FE77-42CD-976D-006AC48A91F3}" srcOrd="0" destOrd="0" presId="urn:microsoft.com/office/officeart/2005/8/layout/vList2"/>
    <dgm:cxn modelId="{580AB255-A903-49C6-A24B-D6838F170D8F}" type="presParOf" srcId="{C2C37AB7-5E47-4FF2-8714-51896FCE11AA}" destId="{B4D6CDB9-6B28-450E-BC80-07FD7205AF27}" srcOrd="0" destOrd="0" presId="urn:microsoft.com/office/officeart/2005/8/layout/vList2"/>
    <dgm:cxn modelId="{902D946F-545E-4BF2-B05E-14A44C885A4F}" type="presParOf" srcId="{C2C37AB7-5E47-4FF2-8714-51896FCE11AA}" destId="{C1A2EEAA-3794-46E4-8EFA-FC74B117F281}" srcOrd="1" destOrd="0" presId="urn:microsoft.com/office/officeart/2005/8/layout/vList2"/>
    <dgm:cxn modelId="{E83718B3-2362-4305-957E-1CB9050EED4B}" type="presParOf" srcId="{C2C37AB7-5E47-4FF2-8714-51896FCE11AA}" destId="{CC5A3FE9-6B76-43EB-B011-E67DB67C7088}" srcOrd="2" destOrd="0" presId="urn:microsoft.com/office/officeart/2005/8/layout/vList2"/>
    <dgm:cxn modelId="{68D7AFD8-0A52-4CCF-BEBE-6C9F45F549EC}" type="presParOf" srcId="{C2C37AB7-5E47-4FF2-8714-51896FCE11AA}" destId="{75E9B43A-AA2D-4917-ABB4-08AF5F017354}" srcOrd="3" destOrd="0" presId="urn:microsoft.com/office/officeart/2005/8/layout/vList2"/>
    <dgm:cxn modelId="{8470849E-CC6A-4E12-9F94-2A4C50AC8BCD}" type="presParOf" srcId="{C2C37AB7-5E47-4FF2-8714-51896FCE11AA}" destId="{B06AE99C-B4F7-48B8-8F95-257A2DA0D33E}" srcOrd="4" destOrd="0" presId="urn:microsoft.com/office/officeart/2005/8/layout/vList2"/>
    <dgm:cxn modelId="{47F5E9F5-467F-41BA-B665-8D89F03E9B3A}" type="presParOf" srcId="{C2C37AB7-5E47-4FF2-8714-51896FCE11AA}" destId="{E17BBEB7-9ACB-4B8F-A21F-B2CAE5B7D454}" srcOrd="5" destOrd="0" presId="urn:microsoft.com/office/officeart/2005/8/layout/vList2"/>
    <dgm:cxn modelId="{B1789243-4D57-4F6D-B849-07A146CD79BA}" type="presParOf" srcId="{C2C37AB7-5E47-4FF2-8714-51896FCE11AA}" destId="{DBFD2FD6-FE77-42CD-976D-006AC48A91F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16447D-15F8-4D2A-A664-813D38B9A44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6E9A116-CA73-4E0D-8E4D-C633F4C36496}">
      <dgm:prSet/>
      <dgm:spPr/>
      <dgm:t>
        <a:bodyPr/>
        <a:lstStyle/>
        <a:p>
          <a:r>
            <a:rPr lang="en-US"/>
            <a:t>Data Cleaning Actions:</a:t>
          </a:r>
        </a:p>
      </dgm:t>
    </dgm:pt>
    <dgm:pt modelId="{EAD29DFA-77A6-4B75-A556-B5C194440017}" type="parTrans" cxnId="{4CBF86EA-15A7-4249-80A6-65F5889C2024}">
      <dgm:prSet/>
      <dgm:spPr/>
      <dgm:t>
        <a:bodyPr/>
        <a:lstStyle/>
        <a:p>
          <a:endParaRPr lang="en-US"/>
        </a:p>
      </dgm:t>
    </dgm:pt>
    <dgm:pt modelId="{B6E0CD9C-4E63-48BE-ACDA-E39974EF0738}" type="sibTrans" cxnId="{4CBF86EA-15A7-4249-80A6-65F5889C2024}">
      <dgm:prSet/>
      <dgm:spPr/>
      <dgm:t>
        <a:bodyPr/>
        <a:lstStyle/>
        <a:p>
          <a:endParaRPr lang="en-US"/>
        </a:p>
      </dgm:t>
    </dgm:pt>
    <dgm:pt modelId="{271BCC2C-D052-43E2-87B1-BBF0F12AF750}">
      <dgm:prSet/>
      <dgm:spPr/>
      <dgm:t>
        <a:bodyPr/>
        <a:lstStyle/>
        <a:p>
          <a:r>
            <a:rPr lang="en-US"/>
            <a:t>• Removed non-snack products (Salsa/Dips) - 2,400+ rows</a:t>
          </a:r>
        </a:p>
      </dgm:t>
    </dgm:pt>
    <dgm:pt modelId="{C117997E-7711-4E5B-BB23-AC818643A6CA}" type="parTrans" cxnId="{0D05F6EE-EE55-48B1-ACC4-CECDC5173B03}">
      <dgm:prSet/>
      <dgm:spPr/>
      <dgm:t>
        <a:bodyPr/>
        <a:lstStyle/>
        <a:p>
          <a:endParaRPr lang="en-US"/>
        </a:p>
      </dgm:t>
    </dgm:pt>
    <dgm:pt modelId="{BE46BBA1-7CEE-4B56-A2B0-F257429B0BDF}" type="sibTrans" cxnId="{0D05F6EE-EE55-48B1-ACC4-CECDC5173B03}">
      <dgm:prSet/>
      <dgm:spPr/>
      <dgm:t>
        <a:bodyPr/>
        <a:lstStyle/>
        <a:p>
          <a:endParaRPr lang="en-US"/>
        </a:p>
      </dgm:t>
    </dgm:pt>
    <dgm:pt modelId="{407A6FCC-0503-42C6-86E9-D9732C0046DB}">
      <dgm:prSet/>
      <dgm:spPr/>
      <dgm:t>
        <a:bodyPr/>
        <a:lstStyle/>
        <a:p>
          <a:r>
            <a:rPr lang="en-US"/>
            <a:t>• Excluded wholesale transactions (Loyalty Card 226000)</a:t>
          </a:r>
        </a:p>
      </dgm:t>
    </dgm:pt>
    <dgm:pt modelId="{A9AF5A53-6B90-45CA-8416-4710BCE191FD}" type="parTrans" cxnId="{F8DAAB0C-9E3E-48DF-9DE1-E684F39789D0}">
      <dgm:prSet/>
      <dgm:spPr/>
      <dgm:t>
        <a:bodyPr/>
        <a:lstStyle/>
        <a:p>
          <a:endParaRPr lang="en-US"/>
        </a:p>
      </dgm:t>
    </dgm:pt>
    <dgm:pt modelId="{216BADA0-9D17-4665-9FBD-EF0DE85AD95C}" type="sibTrans" cxnId="{F8DAAB0C-9E3E-48DF-9DE1-E684F39789D0}">
      <dgm:prSet/>
      <dgm:spPr/>
      <dgm:t>
        <a:bodyPr/>
        <a:lstStyle/>
        <a:p>
          <a:endParaRPr lang="en-US"/>
        </a:p>
      </dgm:t>
    </dgm:pt>
    <dgm:pt modelId="{A8FB1EEB-D30B-4003-86C9-A0C60929D726}">
      <dgm:prSet/>
      <dgm:spPr/>
      <dgm:t>
        <a:bodyPr/>
        <a:lstStyle/>
        <a:p>
          <a:r>
            <a:rPr lang="en-US"/>
            <a:t>• Removed quantity outliers (max reduced from 200 to 5 packs)</a:t>
          </a:r>
        </a:p>
      </dgm:t>
    </dgm:pt>
    <dgm:pt modelId="{B36C1A89-CB8A-4CE9-9EA0-8130A535C493}" type="parTrans" cxnId="{92938595-A42A-4282-8816-1E6475B60680}">
      <dgm:prSet/>
      <dgm:spPr/>
      <dgm:t>
        <a:bodyPr/>
        <a:lstStyle/>
        <a:p>
          <a:endParaRPr lang="en-US"/>
        </a:p>
      </dgm:t>
    </dgm:pt>
    <dgm:pt modelId="{71B9EA88-C1DF-4793-A188-D900B318042A}" type="sibTrans" cxnId="{92938595-A42A-4282-8816-1E6475B60680}">
      <dgm:prSet/>
      <dgm:spPr/>
      <dgm:t>
        <a:bodyPr/>
        <a:lstStyle/>
        <a:p>
          <a:endParaRPr lang="en-US"/>
        </a:p>
      </dgm:t>
    </dgm:pt>
    <dgm:pt modelId="{1A8AF768-6E4A-4E93-8841-8040193E7863}">
      <dgm:prSet/>
      <dgm:spPr/>
      <dgm:t>
        <a:bodyPr/>
        <a:lstStyle/>
        <a:p>
          <a:r>
            <a:rPr lang="en-US"/>
            <a:t>• Normalized brand names (RRD:Red Rock Deli, SNWTS:Smiths)</a:t>
          </a:r>
        </a:p>
      </dgm:t>
    </dgm:pt>
    <dgm:pt modelId="{4CBBFCC9-6912-4414-A8AE-41840B848B67}" type="parTrans" cxnId="{BDE314A4-A3D5-4B2F-A3E0-6A083C9AF9C9}">
      <dgm:prSet/>
      <dgm:spPr/>
      <dgm:t>
        <a:bodyPr/>
        <a:lstStyle/>
        <a:p>
          <a:endParaRPr lang="en-US"/>
        </a:p>
      </dgm:t>
    </dgm:pt>
    <dgm:pt modelId="{B26D2DB8-D7B8-4BDE-A526-B1480D5E3601}" type="sibTrans" cxnId="{BDE314A4-A3D5-4B2F-A3E0-6A083C9AF9C9}">
      <dgm:prSet/>
      <dgm:spPr/>
      <dgm:t>
        <a:bodyPr/>
        <a:lstStyle/>
        <a:p>
          <a:endParaRPr lang="en-US"/>
        </a:p>
      </dgm:t>
    </dgm:pt>
    <dgm:pt modelId="{458A0026-C579-4796-8B5F-1BF98578E177}">
      <dgm:prSet/>
      <dgm:spPr/>
      <dgm:t>
        <a:bodyPr/>
        <a:lstStyle/>
        <a:p>
          <a:r>
            <a:rPr lang="en-US"/>
            <a:t>• Removed 667 sales outliers using IQR method</a:t>
          </a:r>
        </a:p>
      </dgm:t>
    </dgm:pt>
    <dgm:pt modelId="{029D5165-3A7D-41FC-B373-9A0A3C323B2B}" type="parTrans" cxnId="{60D84C49-585A-455C-9585-25EA24356803}">
      <dgm:prSet/>
      <dgm:spPr/>
      <dgm:t>
        <a:bodyPr/>
        <a:lstStyle/>
        <a:p>
          <a:endParaRPr lang="en-US"/>
        </a:p>
      </dgm:t>
    </dgm:pt>
    <dgm:pt modelId="{A1F06F25-AABB-47D0-A4B4-89B2AD78A6E8}" type="sibTrans" cxnId="{60D84C49-585A-455C-9585-25EA24356803}">
      <dgm:prSet/>
      <dgm:spPr/>
      <dgm:t>
        <a:bodyPr/>
        <a:lstStyle/>
        <a:p>
          <a:endParaRPr lang="en-US"/>
        </a:p>
      </dgm:t>
    </dgm:pt>
    <dgm:pt modelId="{1776A997-0B5D-4F3F-9E5D-5B344E1B0678}">
      <dgm:prSet/>
      <dgm:spPr/>
      <dgm:t>
        <a:bodyPr/>
        <a:lstStyle/>
        <a:p>
          <a:r>
            <a:rPr lang="en-US"/>
            <a:t>Final Dataset: 264,836 transactions with clean, reliable data</a:t>
          </a:r>
        </a:p>
      </dgm:t>
    </dgm:pt>
    <dgm:pt modelId="{FB5FE6A8-D783-4893-AE3B-218084FDC009}" type="parTrans" cxnId="{4FA5ED5D-8094-44AD-964F-69E93CC9B5A1}">
      <dgm:prSet/>
      <dgm:spPr/>
      <dgm:t>
        <a:bodyPr/>
        <a:lstStyle/>
        <a:p>
          <a:endParaRPr lang="en-US"/>
        </a:p>
      </dgm:t>
    </dgm:pt>
    <dgm:pt modelId="{2A870195-8BF4-499C-BAB8-358CCC077D41}" type="sibTrans" cxnId="{4FA5ED5D-8094-44AD-964F-69E93CC9B5A1}">
      <dgm:prSet/>
      <dgm:spPr/>
      <dgm:t>
        <a:bodyPr/>
        <a:lstStyle/>
        <a:p>
          <a:endParaRPr lang="en-US"/>
        </a:p>
      </dgm:t>
    </dgm:pt>
    <dgm:pt modelId="{4857E421-B17B-48DE-837D-773FAE9DC758}" type="pres">
      <dgm:prSet presAssocID="{A416447D-15F8-4D2A-A664-813D38B9A446}" presName="root" presStyleCnt="0">
        <dgm:presLayoutVars>
          <dgm:dir/>
          <dgm:resizeHandles val="exact"/>
        </dgm:presLayoutVars>
      </dgm:prSet>
      <dgm:spPr/>
    </dgm:pt>
    <dgm:pt modelId="{9C90A6ED-E0AE-45C6-BD1B-5B4DD716435B}" type="pres">
      <dgm:prSet presAssocID="{16E9A116-CA73-4E0D-8E4D-C633F4C36496}" presName="compNode" presStyleCnt="0"/>
      <dgm:spPr/>
    </dgm:pt>
    <dgm:pt modelId="{17C57B4C-83A4-43D5-8A51-2F4A95767EBD}" type="pres">
      <dgm:prSet presAssocID="{16E9A116-CA73-4E0D-8E4D-C633F4C36496}" presName="bgRect" presStyleLbl="bgShp" presStyleIdx="0" presStyleCnt="7"/>
      <dgm:spPr/>
    </dgm:pt>
    <dgm:pt modelId="{E4BC42BB-3162-475A-BEBB-31EB10AEB0CA}" type="pres">
      <dgm:prSet presAssocID="{16E9A116-CA73-4E0D-8E4D-C633F4C36496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104296FF-82BA-4400-8AB4-9F0A34DA87D9}" type="pres">
      <dgm:prSet presAssocID="{16E9A116-CA73-4E0D-8E4D-C633F4C36496}" presName="spaceRect" presStyleCnt="0"/>
      <dgm:spPr/>
    </dgm:pt>
    <dgm:pt modelId="{E374841D-3486-43CD-9B0C-956AFD5B97A0}" type="pres">
      <dgm:prSet presAssocID="{16E9A116-CA73-4E0D-8E4D-C633F4C36496}" presName="parTx" presStyleLbl="revTx" presStyleIdx="0" presStyleCnt="7">
        <dgm:presLayoutVars>
          <dgm:chMax val="0"/>
          <dgm:chPref val="0"/>
        </dgm:presLayoutVars>
      </dgm:prSet>
      <dgm:spPr/>
    </dgm:pt>
    <dgm:pt modelId="{841F585F-C04B-4A8F-A9E3-4549D1C3D796}" type="pres">
      <dgm:prSet presAssocID="{B6E0CD9C-4E63-48BE-ACDA-E39974EF0738}" presName="sibTrans" presStyleCnt="0"/>
      <dgm:spPr/>
    </dgm:pt>
    <dgm:pt modelId="{D999D2BF-2B9C-4F6E-86D4-8C4FFBAD2CDD}" type="pres">
      <dgm:prSet presAssocID="{271BCC2C-D052-43E2-87B1-BBF0F12AF750}" presName="compNode" presStyleCnt="0"/>
      <dgm:spPr/>
    </dgm:pt>
    <dgm:pt modelId="{1F3784B3-3969-4445-9533-6C89263F5C6E}" type="pres">
      <dgm:prSet presAssocID="{271BCC2C-D052-43E2-87B1-BBF0F12AF750}" presName="bgRect" presStyleLbl="bgShp" presStyleIdx="1" presStyleCnt="7"/>
      <dgm:spPr/>
    </dgm:pt>
    <dgm:pt modelId="{B02E207A-7554-495C-94BB-2432A445B6A4}" type="pres">
      <dgm:prSet presAssocID="{271BCC2C-D052-43E2-87B1-BBF0F12AF750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rries"/>
        </a:ext>
      </dgm:extLst>
    </dgm:pt>
    <dgm:pt modelId="{30ACA2EA-58DD-4A4D-8C70-3EB160A55220}" type="pres">
      <dgm:prSet presAssocID="{271BCC2C-D052-43E2-87B1-BBF0F12AF750}" presName="spaceRect" presStyleCnt="0"/>
      <dgm:spPr/>
    </dgm:pt>
    <dgm:pt modelId="{31C6E260-F36C-4454-9776-1AACE18A59FA}" type="pres">
      <dgm:prSet presAssocID="{271BCC2C-D052-43E2-87B1-BBF0F12AF750}" presName="parTx" presStyleLbl="revTx" presStyleIdx="1" presStyleCnt="7">
        <dgm:presLayoutVars>
          <dgm:chMax val="0"/>
          <dgm:chPref val="0"/>
        </dgm:presLayoutVars>
      </dgm:prSet>
      <dgm:spPr/>
    </dgm:pt>
    <dgm:pt modelId="{6900EF7A-90D6-4D64-8E0A-8D9631D2EC05}" type="pres">
      <dgm:prSet presAssocID="{BE46BBA1-7CEE-4B56-A2B0-F257429B0BDF}" presName="sibTrans" presStyleCnt="0"/>
      <dgm:spPr/>
    </dgm:pt>
    <dgm:pt modelId="{A9E28B7C-FE5F-4197-B715-2B64364B9260}" type="pres">
      <dgm:prSet presAssocID="{407A6FCC-0503-42C6-86E9-D9732C0046DB}" presName="compNode" presStyleCnt="0"/>
      <dgm:spPr/>
    </dgm:pt>
    <dgm:pt modelId="{06ABAF23-4422-4F01-8490-7705B26CB810}" type="pres">
      <dgm:prSet presAssocID="{407A6FCC-0503-42C6-86E9-D9732C0046DB}" presName="bgRect" presStyleLbl="bgShp" presStyleIdx="2" presStyleCnt="7"/>
      <dgm:spPr/>
    </dgm:pt>
    <dgm:pt modelId="{2231BCFA-528D-4D56-B044-F2096AF7B736}" type="pres">
      <dgm:prSet presAssocID="{407A6FCC-0503-42C6-86E9-D9732C0046DB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370558D9-EDE6-43C3-9428-E3C13781D2DE}" type="pres">
      <dgm:prSet presAssocID="{407A6FCC-0503-42C6-86E9-D9732C0046DB}" presName="spaceRect" presStyleCnt="0"/>
      <dgm:spPr/>
    </dgm:pt>
    <dgm:pt modelId="{E747B06D-ADE9-48BA-AF19-42F149A11616}" type="pres">
      <dgm:prSet presAssocID="{407A6FCC-0503-42C6-86E9-D9732C0046DB}" presName="parTx" presStyleLbl="revTx" presStyleIdx="2" presStyleCnt="7">
        <dgm:presLayoutVars>
          <dgm:chMax val="0"/>
          <dgm:chPref val="0"/>
        </dgm:presLayoutVars>
      </dgm:prSet>
      <dgm:spPr/>
    </dgm:pt>
    <dgm:pt modelId="{3B56F7D3-7716-437B-9E3F-451D0C29BCFE}" type="pres">
      <dgm:prSet presAssocID="{216BADA0-9D17-4665-9FBD-EF0DE85AD95C}" presName="sibTrans" presStyleCnt="0"/>
      <dgm:spPr/>
    </dgm:pt>
    <dgm:pt modelId="{54B5BB2A-39A9-45F3-87CB-5A97394DD6E0}" type="pres">
      <dgm:prSet presAssocID="{A8FB1EEB-D30B-4003-86C9-A0C60929D726}" presName="compNode" presStyleCnt="0"/>
      <dgm:spPr/>
    </dgm:pt>
    <dgm:pt modelId="{A8D7C8BF-A1DB-48F4-9513-7AEC255A8E24}" type="pres">
      <dgm:prSet presAssocID="{A8FB1EEB-D30B-4003-86C9-A0C60929D726}" presName="bgRect" presStyleLbl="bgShp" presStyleIdx="3" presStyleCnt="7"/>
      <dgm:spPr/>
    </dgm:pt>
    <dgm:pt modelId="{A97BBC5D-F4EA-4F7B-86F1-FE9D8B5EEE4D}" type="pres">
      <dgm:prSet presAssocID="{A8FB1EEB-D30B-4003-86C9-A0C60929D726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E4475C89-7478-42CE-930B-2065945FD51D}" type="pres">
      <dgm:prSet presAssocID="{A8FB1EEB-D30B-4003-86C9-A0C60929D726}" presName="spaceRect" presStyleCnt="0"/>
      <dgm:spPr/>
    </dgm:pt>
    <dgm:pt modelId="{6F4BC7A7-75D9-4209-9848-25EC06E82893}" type="pres">
      <dgm:prSet presAssocID="{A8FB1EEB-D30B-4003-86C9-A0C60929D726}" presName="parTx" presStyleLbl="revTx" presStyleIdx="3" presStyleCnt="7">
        <dgm:presLayoutVars>
          <dgm:chMax val="0"/>
          <dgm:chPref val="0"/>
        </dgm:presLayoutVars>
      </dgm:prSet>
      <dgm:spPr/>
    </dgm:pt>
    <dgm:pt modelId="{15234097-D0EA-42B9-8926-22B3A3C01E66}" type="pres">
      <dgm:prSet presAssocID="{71B9EA88-C1DF-4793-A188-D900B318042A}" presName="sibTrans" presStyleCnt="0"/>
      <dgm:spPr/>
    </dgm:pt>
    <dgm:pt modelId="{47A08585-81EE-4341-B2EF-82713A3741DB}" type="pres">
      <dgm:prSet presAssocID="{1A8AF768-6E4A-4E93-8841-8040193E7863}" presName="compNode" presStyleCnt="0"/>
      <dgm:spPr/>
    </dgm:pt>
    <dgm:pt modelId="{156F9B09-4A43-47A1-A628-C3B85CB9E082}" type="pres">
      <dgm:prSet presAssocID="{1A8AF768-6E4A-4E93-8841-8040193E7863}" presName="bgRect" presStyleLbl="bgShp" presStyleIdx="4" presStyleCnt="7"/>
      <dgm:spPr/>
    </dgm:pt>
    <dgm:pt modelId="{EC519C35-93BE-42DD-B506-34703BA1205B}" type="pres">
      <dgm:prSet presAssocID="{1A8AF768-6E4A-4E93-8841-8040193E7863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25C87446-0CC3-4805-A92B-62E1CFA8B606}" type="pres">
      <dgm:prSet presAssocID="{1A8AF768-6E4A-4E93-8841-8040193E7863}" presName="spaceRect" presStyleCnt="0"/>
      <dgm:spPr/>
    </dgm:pt>
    <dgm:pt modelId="{38AA9B79-1D6B-45F1-AB07-2402A3B9570E}" type="pres">
      <dgm:prSet presAssocID="{1A8AF768-6E4A-4E93-8841-8040193E7863}" presName="parTx" presStyleLbl="revTx" presStyleIdx="4" presStyleCnt="7">
        <dgm:presLayoutVars>
          <dgm:chMax val="0"/>
          <dgm:chPref val="0"/>
        </dgm:presLayoutVars>
      </dgm:prSet>
      <dgm:spPr/>
    </dgm:pt>
    <dgm:pt modelId="{BA3EBA02-D361-4EBD-ACF2-4D14E90B82F6}" type="pres">
      <dgm:prSet presAssocID="{B26D2DB8-D7B8-4BDE-A526-B1480D5E3601}" presName="sibTrans" presStyleCnt="0"/>
      <dgm:spPr/>
    </dgm:pt>
    <dgm:pt modelId="{B1BBD516-A95F-459E-895A-855A9721C012}" type="pres">
      <dgm:prSet presAssocID="{458A0026-C579-4796-8B5F-1BF98578E177}" presName="compNode" presStyleCnt="0"/>
      <dgm:spPr/>
    </dgm:pt>
    <dgm:pt modelId="{6FC361F6-1BCC-4B20-82A3-8BDF8B7D39D5}" type="pres">
      <dgm:prSet presAssocID="{458A0026-C579-4796-8B5F-1BF98578E177}" presName="bgRect" presStyleLbl="bgShp" presStyleIdx="5" presStyleCnt="7"/>
      <dgm:spPr/>
    </dgm:pt>
    <dgm:pt modelId="{3E9BC95A-5485-4143-89BD-7891BCADBFB3}" type="pres">
      <dgm:prSet presAssocID="{458A0026-C579-4796-8B5F-1BF98578E177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4CA9433-2879-401D-8725-51026DF1F9CA}" type="pres">
      <dgm:prSet presAssocID="{458A0026-C579-4796-8B5F-1BF98578E177}" presName="spaceRect" presStyleCnt="0"/>
      <dgm:spPr/>
    </dgm:pt>
    <dgm:pt modelId="{DCFA7D37-C277-4667-AEA3-EE6B12524D3D}" type="pres">
      <dgm:prSet presAssocID="{458A0026-C579-4796-8B5F-1BF98578E177}" presName="parTx" presStyleLbl="revTx" presStyleIdx="5" presStyleCnt="7">
        <dgm:presLayoutVars>
          <dgm:chMax val="0"/>
          <dgm:chPref val="0"/>
        </dgm:presLayoutVars>
      </dgm:prSet>
      <dgm:spPr/>
    </dgm:pt>
    <dgm:pt modelId="{D510ED2F-22DB-4196-8323-A2C2ABFBA00F}" type="pres">
      <dgm:prSet presAssocID="{A1F06F25-AABB-47D0-A4B4-89B2AD78A6E8}" presName="sibTrans" presStyleCnt="0"/>
      <dgm:spPr/>
    </dgm:pt>
    <dgm:pt modelId="{31342469-3857-42B0-8916-175036C2C2A6}" type="pres">
      <dgm:prSet presAssocID="{1776A997-0B5D-4F3F-9E5D-5B344E1B0678}" presName="compNode" presStyleCnt="0"/>
      <dgm:spPr/>
    </dgm:pt>
    <dgm:pt modelId="{FE993A48-622B-4B7C-B241-DF237BCD1A9F}" type="pres">
      <dgm:prSet presAssocID="{1776A997-0B5D-4F3F-9E5D-5B344E1B0678}" presName="bgRect" presStyleLbl="bgShp" presStyleIdx="6" presStyleCnt="7"/>
      <dgm:spPr/>
    </dgm:pt>
    <dgm:pt modelId="{D9F8BD82-D452-40AD-9505-B50A93781292}" type="pres">
      <dgm:prSet presAssocID="{1776A997-0B5D-4F3F-9E5D-5B344E1B0678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90ADE989-400E-47CB-B8B2-BEE120E31D55}" type="pres">
      <dgm:prSet presAssocID="{1776A997-0B5D-4F3F-9E5D-5B344E1B0678}" presName="spaceRect" presStyleCnt="0"/>
      <dgm:spPr/>
    </dgm:pt>
    <dgm:pt modelId="{C856610C-2F17-45F2-9F32-FB8B29C4928D}" type="pres">
      <dgm:prSet presAssocID="{1776A997-0B5D-4F3F-9E5D-5B344E1B0678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8DAAB0C-9E3E-48DF-9DE1-E684F39789D0}" srcId="{A416447D-15F8-4D2A-A664-813D38B9A446}" destId="{407A6FCC-0503-42C6-86E9-D9732C0046DB}" srcOrd="2" destOrd="0" parTransId="{A9AF5A53-6B90-45CA-8416-4710BCE191FD}" sibTransId="{216BADA0-9D17-4665-9FBD-EF0DE85AD95C}"/>
    <dgm:cxn modelId="{9BEB562C-9D35-4AA8-BA2E-56ADF6DCA528}" type="presOf" srcId="{16E9A116-CA73-4E0D-8E4D-C633F4C36496}" destId="{E374841D-3486-43CD-9B0C-956AFD5B97A0}" srcOrd="0" destOrd="0" presId="urn:microsoft.com/office/officeart/2018/2/layout/IconVerticalSolidList"/>
    <dgm:cxn modelId="{AE3BE530-0DDD-46CF-8F87-94388B6170BA}" type="presOf" srcId="{A8FB1EEB-D30B-4003-86C9-A0C60929D726}" destId="{6F4BC7A7-75D9-4209-9848-25EC06E82893}" srcOrd="0" destOrd="0" presId="urn:microsoft.com/office/officeart/2018/2/layout/IconVerticalSolidList"/>
    <dgm:cxn modelId="{4FA5ED5D-8094-44AD-964F-69E93CC9B5A1}" srcId="{A416447D-15F8-4D2A-A664-813D38B9A446}" destId="{1776A997-0B5D-4F3F-9E5D-5B344E1B0678}" srcOrd="6" destOrd="0" parTransId="{FB5FE6A8-D783-4893-AE3B-218084FDC009}" sibTransId="{2A870195-8BF4-499C-BAB8-358CCC077D41}"/>
    <dgm:cxn modelId="{60D84C49-585A-455C-9585-25EA24356803}" srcId="{A416447D-15F8-4D2A-A664-813D38B9A446}" destId="{458A0026-C579-4796-8B5F-1BF98578E177}" srcOrd="5" destOrd="0" parTransId="{029D5165-3A7D-41FC-B373-9A0A3C323B2B}" sibTransId="{A1F06F25-AABB-47D0-A4B4-89B2AD78A6E8}"/>
    <dgm:cxn modelId="{4E095352-C326-4443-806E-2BC15898EA90}" type="presOf" srcId="{458A0026-C579-4796-8B5F-1BF98578E177}" destId="{DCFA7D37-C277-4667-AEA3-EE6B12524D3D}" srcOrd="0" destOrd="0" presId="urn:microsoft.com/office/officeart/2018/2/layout/IconVerticalSolidList"/>
    <dgm:cxn modelId="{92938595-A42A-4282-8816-1E6475B60680}" srcId="{A416447D-15F8-4D2A-A664-813D38B9A446}" destId="{A8FB1EEB-D30B-4003-86C9-A0C60929D726}" srcOrd="3" destOrd="0" parTransId="{B36C1A89-CB8A-4CE9-9EA0-8130A535C493}" sibTransId="{71B9EA88-C1DF-4793-A188-D900B318042A}"/>
    <dgm:cxn modelId="{BDE314A4-A3D5-4B2F-A3E0-6A083C9AF9C9}" srcId="{A416447D-15F8-4D2A-A664-813D38B9A446}" destId="{1A8AF768-6E4A-4E93-8841-8040193E7863}" srcOrd="4" destOrd="0" parTransId="{4CBBFCC9-6912-4414-A8AE-41840B848B67}" sibTransId="{B26D2DB8-D7B8-4BDE-A526-B1480D5E3601}"/>
    <dgm:cxn modelId="{4E358CAF-F14E-4737-B3FF-C7ED7DE9EA70}" type="presOf" srcId="{271BCC2C-D052-43E2-87B1-BBF0F12AF750}" destId="{31C6E260-F36C-4454-9776-1AACE18A59FA}" srcOrd="0" destOrd="0" presId="urn:microsoft.com/office/officeart/2018/2/layout/IconVerticalSolidList"/>
    <dgm:cxn modelId="{6079CDC6-6E93-4C24-87EA-53A46E91C4D1}" type="presOf" srcId="{1776A997-0B5D-4F3F-9E5D-5B344E1B0678}" destId="{C856610C-2F17-45F2-9F32-FB8B29C4928D}" srcOrd="0" destOrd="0" presId="urn:microsoft.com/office/officeart/2018/2/layout/IconVerticalSolidList"/>
    <dgm:cxn modelId="{9F6B24CF-7707-4758-9C6D-F4A26F69D457}" type="presOf" srcId="{407A6FCC-0503-42C6-86E9-D9732C0046DB}" destId="{E747B06D-ADE9-48BA-AF19-42F149A11616}" srcOrd="0" destOrd="0" presId="urn:microsoft.com/office/officeart/2018/2/layout/IconVerticalSolidList"/>
    <dgm:cxn modelId="{4CBF86EA-15A7-4249-80A6-65F5889C2024}" srcId="{A416447D-15F8-4D2A-A664-813D38B9A446}" destId="{16E9A116-CA73-4E0D-8E4D-C633F4C36496}" srcOrd="0" destOrd="0" parTransId="{EAD29DFA-77A6-4B75-A556-B5C194440017}" sibTransId="{B6E0CD9C-4E63-48BE-ACDA-E39974EF0738}"/>
    <dgm:cxn modelId="{3443DAED-3BD9-4527-A2B8-E1D8F1B09D04}" type="presOf" srcId="{A416447D-15F8-4D2A-A664-813D38B9A446}" destId="{4857E421-B17B-48DE-837D-773FAE9DC758}" srcOrd="0" destOrd="0" presId="urn:microsoft.com/office/officeart/2018/2/layout/IconVerticalSolidList"/>
    <dgm:cxn modelId="{0D05F6EE-EE55-48B1-ACC4-CECDC5173B03}" srcId="{A416447D-15F8-4D2A-A664-813D38B9A446}" destId="{271BCC2C-D052-43E2-87B1-BBF0F12AF750}" srcOrd="1" destOrd="0" parTransId="{C117997E-7711-4E5B-BB23-AC818643A6CA}" sibTransId="{BE46BBA1-7CEE-4B56-A2B0-F257429B0BDF}"/>
    <dgm:cxn modelId="{274B0AF1-21D3-4890-ABE5-FC6958A40F63}" type="presOf" srcId="{1A8AF768-6E4A-4E93-8841-8040193E7863}" destId="{38AA9B79-1D6B-45F1-AB07-2402A3B9570E}" srcOrd="0" destOrd="0" presId="urn:microsoft.com/office/officeart/2018/2/layout/IconVerticalSolidList"/>
    <dgm:cxn modelId="{F2E8D97A-9428-4626-97DA-BCF700F84FC7}" type="presParOf" srcId="{4857E421-B17B-48DE-837D-773FAE9DC758}" destId="{9C90A6ED-E0AE-45C6-BD1B-5B4DD716435B}" srcOrd="0" destOrd="0" presId="urn:microsoft.com/office/officeart/2018/2/layout/IconVerticalSolidList"/>
    <dgm:cxn modelId="{B85755F5-B3AB-4A39-9099-AD9C81E8712B}" type="presParOf" srcId="{9C90A6ED-E0AE-45C6-BD1B-5B4DD716435B}" destId="{17C57B4C-83A4-43D5-8A51-2F4A95767EBD}" srcOrd="0" destOrd="0" presId="urn:microsoft.com/office/officeart/2018/2/layout/IconVerticalSolidList"/>
    <dgm:cxn modelId="{28096DB7-9A30-4956-B2E3-D5F856E1173E}" type="presParOf" srcId="{9C90A6ED-E0AE-45C6-BD1B-5B4DD716435B}" destId="{E4BC42BB-3162-475A-BEBB-31EB10AEB0CA}" srcOrd="1" destOrd="0" presId="urn:microsoft.com/office/officeart/2018/2/layout/IconVerticalSolidList"/>
    <dgm:cxn modelId="{CA27806A-E55A-41B8-8881-1468F0588433}" type="presParOf" srcId="{9C90A6ED-E0AE-45C6-BD1B-5B4DD716435B}" destId="{104296FF-82BA-4400-8AB4-9F0A34DA87D9}" srcOrd="2" destOrd="0" presId="urn:microsoft.com/office/officeart/2018/2/layout/IconVerticalSolidList"/>
    <dgm:cxn modelId="{E60D4320-2653-4EB4-8B8F-944BAD856A00}" type="presParOf" srcId="{9C90A6ED-E0AE-45C6-BD1B-5B4DD716435B}" destId="{E374841D-3486-43CD-9B0C-956AFD5B97A0}" srcOrd="3" destOrd="0" presId="urn:microsoft.com/office/officeart/2018/2/layout/IconVerticalSolidList"/>
    <dgm:cxn modelId="{6E74CC10-6B78-4E77-B624-BCF118F6F047}" type="presParOf" srcId="{4857E421-B17B-48DE-837D-773FAE9DC758}" destId="{841F585F-C04B-4A8F-A9E3-4549D1C3D796}" srcOrd="1" destOrd="0" presId="urn:microsoft.com/office/officeart/2018/2/layout/IconVerticalSolidList"/>
    <dgm:cxn modelId="{F4856A8D-6F23-4044-8368-039679F84706}" type="presParOf" srcId="{4857E421-B17B-48DE-837D-773FAE9DC758}" destId="{D999D2BF-2B9C-4F6E-86D4-8C4FFBAD2CDD}" srcOrd="2" destOrd="0" presId="urn:microsoft.com/office/officeart/2018/2/layout/IconVerticalSolidList"/>
    <dgm:cxn modelId="{FB4CF52B-3278-41FF-A5DC-FFCC0446C2FA}" type="presParOf" srcId="{D999D2BF-2B9C-4F6E-86D4-8C4FFBAD2CDD}" destId="{1F3784B3-3969-4445-9533-6C89263F5C6E}" srcOrd="0" destOrd="0" presId="urn:microsoft.com/office/officeart/2018/2/layout/IconVerticalSolidList"/>
    <dgm:cxn modelId="{33DC21B9-FB91-460B-91A8-79AC28D6B049}" type="presParOf" srcId="{D999D2BF-2B9C-4F6E-86D4-8C4FFBAD2CDD}" destId="{B02E207A-7554-495C-94BB-2432A445B6A4}" srcOrd="1" destOrd="0" presId="urn:microsoft.com/office/officeart/2018/2/layout/IconVerticalSolidList"/>
    <dgm:cxn modelId="{0759AD2E-336C-438D-B0CC-1B179D91AEEB}" type="presParOf" srcId="{D999D2BF-2B9C-4F6E-86D4-8C4FFBAD2CDD}" destId="{30ACA2EA-58DD-4A4D-8C70-3EB160A55220}" srcOrd="2" destOrd="0" presId="urn:microsoft.com/office/officeart/2018/2/layout/IconVerticalSolidList"/>
    <dgm:cxn modelId="{59F53590-2A27-42CD-8453-EB05F280CB9A}" type="presParOf" srcId="{D999D2BF-2B9C-4F6E-86D4-8C4FFBAD2CDD}" destId="{31C6E260-F36C-4454-9776-1AACE18A59FA}" srcOrd="3" destOrd="0" presId="urn:microsoft.com/office/officeart/2018/2/layout/IconVerticalSolidList"/>
    <dgm:cxn modelId="{3C5F8452-41AA-4DE3-94D2-1B1CFBF1AF91}" type="presParOf" srcId="{4857E421-B17B-48DE-837D-773FAE9DC758}" destId="{6900EF7A-90D6-4D64-8E0A-8D9631D2EC05}" srcOrd="3" destOrd="0" presId="urn:microsoft.com/office/officeart/2018/2/layout/IconVerticalSolidList"/>
    <dgm:cxn modelId="{9AF166BE-7F7D-4517-BACD-F14E4FBEBEDF}" type="presParOf" srcId="{4857E421-B17B-48DE-837D-773FAE9DC758}" destId="{A9E28B7C-FE5F-4197-B715-2B64364B9260}" srcOrd="4" destOrd="0" presId="urn:microsoft.com/office/officeart/2018/2/layout/IconVerticalSolidList"/>
    <dgm:cxn modelId="{0929F3F7-7193-4227-B8CD-D8E437B2B0FA}" type="presParOf" srcId="{A9E28B7C-FE5F-4197-B715-2B64364B9260}" destId="{06ABAF23-4422-4F01-8490-7705B26CB810}" srcOrd="0" destOrd="0" presId="urn:microsoft.com/office/officeart/2018/2/layout/IconVerticalSolidList"/>
    <dgm:cxn modelId="{D37D98D8-3F3E-41E0-BC2C-FB1A4EC06AC2}" type="presParOf" srcId="{A9E28B7C-FE5F-4197-B715-2B64364B9260}" destId="{2231BCFA-528D-4D56-B044-F2096AF7B736}" srcOrd="1" destOrd="0" presId="urn:microsoft.com/office/officeart/2018/2/layout/IconVerticalSolidList"/>
    <dgm:cxn modelId="{0C7C5B0D-10E2-47C4-B6A9-2FE5183C2F10}" type="presParOf" srcId="{A9E28B7C-FE5F-4197-B715-2B64364B9260}" destId="{370558D9-EDE6-43C3-9428-E3C13781D2DE}" srcOrd="2" destOrd="0" presId="urn:microsoft.com/office/officeart/2018/2/layout/IconVerticalSolidList"/>
    <dgm:cxn modelId="{428FC2DA-DE1A-4F92-9FD8-CB9C5A98A4E3}" type="presParOf" srcId="{A9E28B7C-FE5F-4197-B715-2B64364B9260}" destId="{E747B06D-ADE9-48BA-AF19-42F149A11616}" srcOrd="3" destOrd="0" presId="urn:microsoft.com/office/officeart/2018/2/layout/IconVerticalSolidList"/>
    <dgm:cxn modelId="{2D0E29CF-1C6E-48DD-A86D-C7A1DB371A8F}" type="presParOf" srcId="{4857E421-B17B-48DE-837D-773FAE9DC758}" destId="{3B56F7D3-7716-437B-9E3F-451D0C29BCFE}" srcOrd="5" destOrd="0" presId="urn:microsoft.com/office/officeart/2018/2/layout/IconVerticalSolidList"/>
    <dgm:cxn modelId="{6C7A0A2A-ABBD-4E53-93D3-2AA16A1A0099}" type="presParOf" srcId="{4857E421-B17B-48DE-837D-773FAE9DC758}" destId="{54B5BB2A-39A9-45F3-87CB-5A97394DD6E0}" srcOrd="6" destOrd="0" presId="urn:microsoft.com/office/officeart/2018/2/layout/IconVerticalSolidList"/>
    <dgm:cxn modelId="{BFBE66E7-4E2A-4D0D-BF66-CD809F41EAE9}" type="presParOf" srcId="{54B5BB2A-39A9-45F3-87CB-5A97394DD6E0}" destId="{A8D7C8BF-A1DB-48F4-9513-7AEC255A8E24}" srcOrd="0" destOrd="0" presId="urn:microsoft.com/office/officeart/2018/2/layout/IconVerticalSolidList"/>
    <dgm:cxn modelId="{DE3605C5-E2F2-4347-857E-8E80B984869D}" type="presParOf" srcId="{54B5BB2A-39A9-45F3-87CB-5A97394DD6E0}" destId="{A97BBC5D-F4EA-4F7B-86F1-FE9D8B5EEE4D}" srcOrd="1" destOrd="0" presId="urn:microsoft.com/office/officeart/2018/2/layout/IconVerticalSolidList"/>
    <dgm:cxn modelId="{0A163BA9-4254-47C2-8499-A00D690F7BD7}" type="presParOf" srcId="{54B5BB2A-39A9-45F3-87CB-5A97394DD6E0}" destId="{E4475C89-7478-42CE-930B-2065945FD51D}" srcOrd="2" destOrd="0" presId="urn:microsoft.com/office/officeart/2018/2/layout/IconVerticalSolidList"/>
    <dgm:cxn modelId="{187DB4CB-F363-4109-9695-6799FE90155F}" type="presParOf" srcId="{54B5BB2A-39A9-45F3-87CB-5A97394DD6E0}" destId="{6F4BC7A7-75D9-4209-9848-25EC06E82893}" srcOrd="3" destOrd="0" presId="urn:microsoft.com/office/officeart/2018/2/layout/IconVerticalSolidList"/>
    <dgm:cxn modelId="{6FD0654D-18FB-4739-A338-FD6ACF12E029}" type="presParOf" srcId="{4857E421-B17B-48DE-837D-773FAE9DC758}" destId="{15234097-D0EA-42B9-8926-22B3A3C01E66}" srcOrd="7" destOrd="0" presId="urn:microsoft.com/office/officeart/2018/2/layout/IconVerticalSolidList"/>
    <dgm:cxn modelId="{A96C2900-FB95-4CED-AFA6-4320AFFFA127}" type="presParOf" srcId="{4857E421-B17B-48DE-837D-773FAE9DC758}" destId="{47A08585-81EE-4341-B2EF-82713A3741DB}" srcOrd="8" destOrd="0" presId="urn:microsoft.com/office/officeart/2018/2/layout/IconVerticalSolidList"/>
    <dgm:cxn modelId="{82EA6362-68C9-4019-9211-FC23AE2FF156}" type="presParOf" srcId="{47A08585-81EE-4341-B2EF-82713A3741DB}" destId="{156F9B09-4A43-47A1-A628-C3B85CB9E082}" srcOrd="0" destOrd="0" presId="urn:microsoft.com/office/officeart/2018/2/layout/IconVerticalSolidList"/>
    <dgm:cxn modelId="{61783E9D-89CA-4777-84D8-ECDBE4572776}" type="presParOf" srcId="{47A08585-81EE-4341-B2EF-82713A3741DB}" destId="{EC519C35-93BE-42DD-B506-34703BA1205B}" srcOrd="1" destOrd="0" presId="urn:microsoft.com/office/officeart/2018/2/layout/IconVerticalSolidList"/>
    <dgm:cxn modelId="{F64C48F0-EB37-4693-8977-498C58F700E7}" type="presParOf" srcId="{47A08585-81EE-4341-B2EF-82713A3741DB}" destId="{25C87446-0CC3-4805-A92B-62E1CFA8B606}" srcOrd="2" destOrd="0" presId="urn:microsoft.com/office/officeart/2018/2/layout/IconVerticalSolidList"/>
    <dgm:cxn modelId="{377ACE16-C042-407F-A3C2-7405E0B73BFE}" type="presParOf" srcId="{47A08585-81EE-4341-B2EF-82713A3741DB}" destId="{38AA9B79-1D6B-45F1-AB07-2402A3B9570E}" srcOrd="3" destOrd="0" presId="urn:microsoft.com/office/officeart/2018/2/layout/IconVerticalSolidList"/>
    <dgm:cxn modelId="{E1867F47-75E8-4C2D-80D1-A53D8D10D4F2}" type="presParOf" srcId="{4857E421-B17B-48DE-837D-773FAE9DC758}" destId="{BA3EBA02-D361-4EBD-ACF2-4D14E90B82F6}" srcOrd="9" destOrd="0" presId="urn:microsoft.com/office/officeart/2018/2/layout/IconVerticalSolidList"/>
    <dgm:cxn modelId="{D7BB7A92-5F13-44FD-8972-09AB48C1487E}" type="presParOf" srcId="{4857E421-B17B-48DE-837D-773FAE9DC758}" destId="{B1BBD516-A95F-459E-895A-855A9721C012}" srcOrd="10" destOrd="0" presId="urn:microsoft.com/office/officeart/2018/2/layout/IconVerticalSolidList"/>
    <dgm:cxn modelId="{A5606218-B520-4B84-A845-42DD805BF23A}" type="presParOf" srcId="{B1BBD516-A95F-459E-895A-855A9721C012}" destId="{6FC361F6-1BCC-4B20-82A3-8BDF8B7D39D5}" srcOrd="0" destOrd="0" presId="urn:microsoft.com/office/officeart/2018/2/layout/IconVerticalSolidList"/>
    <dgm:cxn modelId="{5C425CA3-75DA-46BE-97DC-DC4173109DB6}" type="presParOf" srcId="{B1BBD516-A95F-459E-895A-855A9721C012}" destId="{3E9BC95A-5485-4143-89BD-7891BCADBFB3}" srcOrd="1" destOrd="0" presId="urn:microsoft.com/office/officeart/2018/2/layout/IconVerticalSolidList"/>
    <dgm:cxn modelId="{1B198245-9706-4AD0-9BA0-07431B3D98E2}" type="presParOf" srcId="{B1BBD516-A95F-459E-895A-855A9721C012}" destId="{C4CA9433-2879-401D-8725-51026DF1F9CA}" srcOrd="2" destOrd="0" presId="urn:microsoft.com/office/officeart/2018/2/layout/IconVerticalSolidList"/>
    <dgm:cxn modelId="{20DFF820-E189-4071-9F09-5571C471AEA7}" type="presParOf" srcId="{B1BBD516-A95F-459E-895A-855A9721C012}" destId="{DCFA7D37-C277-4667-AEA3-EE6B12524D3D}" srcOrd="3" destOrd="0" presId="urn:microsoft.com/office/officeart/2018/2/layout/IconVerticalSolidList"/>
    <dgm:cxn modelId="{F58D894F-BF34-446B-8F1D-5D967646B243}" type="presParOf" srcId="{4857E421-B17B-48DE-837D-773FAE9DC758}" destId="{D510ED2F-22DB-4196-8323-A2C2ABFBA00F}" srcOrd="11" destOrd="0" presId="urn:microsoft.com/office/officeart/2018/2/layout/IconVerticalSolidList"/>
    <dgm:cxn modelId="{AE394E53-03EE-438E-8018-1AEB61E2A1E9}" type="presParOf" srcId="{4857E421-B17B-48DE-837D-773FAE9DC758}" destId="{31342469-3857-42B0-8916-175036C2C2A6}" srcOrd="12" destOrd="0" presId="urn:microsoft.com/office/officeart/2018/2/layout/IconVerticalSolidList"/>
    <dgm:cxn modelId="{8CFEA251-6375-42D7-905B-2FCFEDA4D69A}" type="presParOf" srcId="{31342469-3857-42B0-8916-175036C2C2A6}" destId="{FE993A48-622B-4B7C-B241-DF237BCD1A9F}" srcOrd="0" destOrd="0" presId="urn:microsoft.com/office/officeart/2018/2/layout/IconVerticalSolidList"/>
    <dgm:cxn modelId="{DB41F349-25BA-44D9-9E1C-7EEEF2AAA313}" type="presParOf" srcId="{31342469-3857-42B0-8916-175036C2C2A6}" destId="{D9F8BD82-D452-40AD-9505-B50A93781292}" srcOrd="1" destOrd="0" presId="urn:microsoft.com/office/officeart/2018/2/layout/IconVerticalSolidList"/>
    <dgm:cxn modelId="{85AC1CB5-7339-432D-B916-D5440413B141}" type="presParOf" srcId="{31342469-3857-42B0-8916-175036C2C2A6}" destId="{90ADE989-400E-47CB-B8B2-BEE120E31D55}" srcOrd="2" destOrd="0" presId="urn:microsoft.com/office/officeart/2018/2/layout/IconVerticalSolidList"/>
    <dgm:cxn modelId="{D3E291F4-4842-4A0C-9AD1-FD6BE927E850}" type="presParOf" srcId="{31342469-3857-42B0-8916-175036C2C2A6}" destId="{C856610C-2F17-45F2-9F32-FB8B29C492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6DFDB5-0A56-47A1-8865-1102D0F5B5C5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91F824-1D9E-4E07-84C4-445BDF99AF63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KEY FINDINGS:</a:t>
          </a:r>
          <a:endParaRPr lang="en-US" sz="2200" kern="1200"/>
        </a:p>
      </dsp:txBody>
      <dsp:txXfrm>
        <a:off x="0" y="675"/>
        <a:ext cx="6900512" cy="790684"/>
      </dsp:txXfrm>
    </dsp:sp>
    <dsp:sp modelId="{DB71B1CC-09B2-4558-9866-F10CDE7DCE30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F5C30-C366-4FCB-9E11-234F105392F9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Mainstream Young Singles/Couples pay premium prices ($4.06/pack)</a:t>
          </a:r>
        </a:p>
      </dsp:txBody>
      <dsp:txXfrm>
        <a:off x="0" y="791359"/>
        <a:ext cx="6900512" cy="790684"/>
      </dsp:txXfrm>
    </dsp:sp>
    <dsp:sp modelId="{B6BFD64B-97B2-48DE-8362-BDBCDEDD84A1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6C32E-057C-4788-8E2E-5FD91103E5E3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175g pack size is the clear consumer favorite (60,000+ transactions)</a:t>
          </a:r>
        </a:p>
      </dsp:txBody>
      <dsp:txXfrm>
        <a:off x="0" y="1582044"/>
        <a:ext cx="6900512" cy="790684"/>
      </dsp:txXfrm>
    </dsp:sp>
    <dsp:sp modelId="{56065556-BA3B-4A2C-A997-85C2086CDCD4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D8341-2AC0-4E41-9255-811839E91C6C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Kettle ($386K) and Doritos ($186K) dominate 40% of market</a:t>
          </a:r>
        </a:p>
      </dsp:txBody>
      <dsp:txXfrm>
        <a:off x="0" y="2372728"/>
        <a:ext cx="6900512" cy="790684"/>
      </dsp:txXfrm>
    </dsp:sp>
    <dsp:sp modelId="{2AB3A04D-119D-42BE-8096-CE7A38FBE9CC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DF5C3-CC0C-4A37-879E-AAB287831D15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Store trial: 67% success rate (2 of 3 stores positive)</a:t>
          </a:r>
        </a:p>
      </dsp:txBody>
      <dsp:txXfrm>
        <a:off x="0" y="3163412"/>
        <a:ext cx="6900512" cy="790684"/>
      </dsp:txXfrm>
    </dsp:sp>
    <dsp:sp modelId="{5C8485D2-CB4E-4FEE-AC40-AE2CC35ED500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7E6E7-8308-40CE-9782-E44F5F996017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Average impact across trial stores: +$37.90</a:t>
          </a:r>
        </a:p>
      </dsp:txBody>
      <dsp:txXfrm>
        <a:off x="0" y="3954096"/>
        <a:ext cx="6900512" cy="790684"/>
      </dsp:txXfrm>
    </dsp:sp>
    <dsp:sp modelId="{8E24C72D-4260-4C41-BBC3-9A20D1EB0E62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80CCF-50AA-44CF-8DC0-F3B0837509FF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RECOMMENDATION: Target Mainstream segment, optimize 175g format, selectively scale trial</a:t>
          </a:r>
        </a:p>
      </dsp:txBody>
      <dsp:txXfrm>
        <a:off x="0" y="4744781"/>
        <a:ext cx="6900512" cy="790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006F7C-EF43-4EAC-A5CF-3704E81E653F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Performance Analysis, 2018–2019</a:t>
          </a:r>
        </a:p>
      </dsp:txBody>
      <dsp:txXfrm>
        <a:off x="1283" y="673807"/>
        <a:ext cx="5006206" cy="3003723"/>
      </dsp:txXfrm>
    </dsp:sp>
    <dsp:sp modelId="{97346038-B021-47C7-A751-775E43F42B57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Purpose: Introduce the report and set the stage.</a:t>
          </a:r>
        </a:p>
      </dsp:txBody>
      <dsp:txXfrm>
        <a:off x="5508110" y="673807"/>
        <a:ext cx="5006206" cy="30037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6CDB9-6B28-450E-BC80-07FD7205AF27}">
      <dsp:nvSpPr>
        <dsp:cNvPr id="0" name=""/>
        <dsp:cNvSpPr/>
      </dsp:nvSpPr>
      <dsp:spPr>
        <a:xfrm>
          <a:off x="0" y="518409"/>
          <a:ext cx="10515600" cy="761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RESULT: NO POSITIVE EFFECT - Negative impact of -$70.74</a:t>
          </a:r>
        </a:p>
      </dsp:txBody>
      <dsp:txXfrm>
        <a:off x="37182" y="555591"/>
        <a:ext cx="10441236" cy="687306"/>
      </dsp:txXfrm>
    </dsp:sp>
    <dsp:sp modelId="{CC5A3FE9-6B76-43EB-B011-E67DB67C7088}">
      <dsp:nvSpPr>
        <dsp:cNvPr id="0" name=""/>
        <dsp:cNvSpPr/>
      </dsp:nvSpPr>
      <dsp:spPr>
        <a:xfrm>
          <a:off x="0" y="1369359"/>
          <a:ext cx="10515600" cy="761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Trial store sales increased by $16.29</a:t>
          </a:r>
        </a:p>
      </dsp:txBody>
      <dsp:txXfrm>
        <a:off x="37182" y="1406541"/>
        <a:ext cx="10441236" cy="687306"/>
      </dsp:txXfrm>
    </dsp:sp>
    <dsp:sp modelId="{B06AE99C-B4F7-48B8-8F95-257A2DA0D33E}">
      <dsp:nvSpPr>
        <dsp:cNvPr id="0" name=""/>
        <dsp:cNvSpPr/>
      </dsp:nvSpPr>
      <dsp:spPr>
        <a:xfrm>
          <a:off x="0" y="2220309"/>
          <a:ext cx="10515600" cy="761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Control store sales increased by $87.02</a:t>
          </a:r>
        </a:p>
      </dsp:txBody>
      <dsp:txXfrm>
        <a:off x="37182" y="2257491"/>
        <a:ext cx="10441236" cy="687306"/>
      </dsp:txXfrm>
    </dsp:sp>
    <dsp:sp modelId="{DBFD2FD6-FE77-42CD-976D-006AC48A91F3}">
      <dsp:nvSpPr>
        <dsp:cNvPr id="0" name=""/>
        <dsp:cNvSpPr/>
      </dsp:nvSpPr>
      <dsp:spPr>
        <a:xfrm>
          <a:off x="0" y="3071259"/>
          <a:ext cx="10515600" cy="761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Trial store underperformed relative to control</a:t>
          </a:r>
        </a:p>
      </dsp:txBody>
      <dsp:txXfrm>
        <a:off x="37182" y="3108441"/>
        <a:ext cx="10441236" cy="6873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C57B4C-83A4-43D5-8A51-2F4A95767EBD}">
      <dsp:nvSpPr>
        <dsp:cNvPr id="0" name=""/>
        <dsp:cNvSpPr/>
      </dsp:nvSpPr>
      <dsp:spPr>
        <a:xfrm>
          <a:off x="0" y="456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C42BB-3162-475A-BEBB-31EB10AEB0CA}">
      <dsp:nvSpPr>
        <dsp:cNvPr id="0" name=""/>
        <dsp:cNvSpPr/>
      </dsp:nvSpPr>
      <dsp:spPr>
        <a:xfrm>
          <a:off x="189964" y="141752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4841D-3486-43CD-9B0C-956AFD5B97A0}">
      <dsp:nvSpPr>
        <dsp:cNvPr id="0" name=""/>
        <dsp:cNvSpPr/>
      </dsp:nvSpPr>
      <dsp:spPr>
        <a:xfrm>
          <a:off x="725319" y="456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Cleaning Actions:</a:t>
          </a:r>
        </a:p>
      </dsp:txBody>
      <dsp:txXfrm>
        <a:off x="725319" y="456"/>
        <a:ext cx="5925933" cy="627982"/>
      </dsp:txXfrm>
    </dsp:sp>
    <dsp:sp modelId="{1F3784B3-3969-4445-9533-6C89263F5C6E}">
      <dsp:nvSpPr>
        <dsp:cNvPr id="0" name=""/>
        <dsp:cNvSpPr/>
      </dsp:nvSpPr>
      <dsp:spPr>
        <a:xfrm>
          <a:off x="0" y="785434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2E207A-7554-495C-94BB-2432A445B6A4}">
      <dsp:nvSpPr>
        <dsp:cNvPr id="0" name=""/>
        <dsp:cNvSpPr/>
      </dsp:nvSpPr>
      <dsp:spPr>
        <a:xfrm>
          <a:off x="189964" y="926730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6E260-F36C-4454-9776-1AACE18A59FA}">
      <dsp:nvSpPr>
        <dsp:cNvPr id="0" name=""/>
        <dsp:cNvSpPr/>
      </dsp:nvSpPr>
      <dsp:spPr>
        <a:xfrm>
          <a:off x="725319" y="785434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Removed non-snack products (Salsa/Dips) - 2,400+ rows</a:t>
          </a:r>
        </a:p>
      </dsp:txBody>
      <dsp:txXfrm>
        <a:off x="725319" y="785434"/>
        <a:ext cx="5925933" cy="627982"/>
      </dsp:txXfrm>
    </dsp:sp>
    <dsp:sp modelId="{06ABAF23-4422-4F01-8490-7705B26CB810}">
      <dsp:nvSpPr>
        <dsp:cNvPr id="0" name=""/>
        <dsp:cNvSpPr/>
      </dsp:nvSpPr>
      <dsp:spPr>
        <a:xfrm>
          <a:off x="0" y="1570412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31BCFA-528D-4D56-B044-F2096AF7B736}">
      <dsp:nvSpPr>
        <dsp:cNvPr id="0" name=""/>
        <dsp:cNvSpPr/>
      </dsp:nvSpPr>
      <dsp:spPr>
        <a:xfrm>
          <a:off x="189964" y="1711708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7B06D-ADE9-48BA-AF19-42F149A11616}">
      <dsp:nvSpPr>
        <dsp:cNvPr id="0" name=""/>
        <dsp:cNvSpPr/>
      </dsp:nvSpPr>
      <dsp:spPr>
        <a:xfrm>
          <a:off x="725319" y="1570412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Excluded wholesale transactions (Loyalty Card 226000)</a:t>
          </a:r>
        </a:p>
      </dsp:txBody>
      <dsp:txXfrm>
        <a:off x="725319" y="1570412"/>
        <a:ext cx="5925933" cy="627982"/>
      </dsp:txXfrm>
    </dsp:sp>
    <dsp:sp modelId="{A8D7C8BF-A1DB-48F4-9513-7AEC255A8E24}">
      <dsp:nvSpPr>
        <dsp:cNvPr id="0" name=""/>
        <dsp:cNvSpPr/>
      </dsp:nvSpPr>
      <dsp:spPr>
        <a:xfrm>
          <a:off x="0" y="2355390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BBC5D-F4EA-4F7B-86F1-FE9D8B5EEE4D}">
      <dsp:nvSpPr>
        <dsp:cNvPr id="0" name=""/>
        <dsp:cNvSpPr/>
      </dsp:nvSpPr>
      <dsp:spPr>
        <a:xfrm>
          <a:off x="189964" y="2496686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BC7A7-75D9-4209-9848-25EC06E82893}">
      <dsp:nvSpPr>
        <dsp:cNvPr id="0" name=""/>
        <dsp:cNvSpPr/>
      </dsp:nvSpPr>
      <dsp:spPr>
        <a:xfrm>
          <a:off x="725319" y="2355390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Removed quantity outliers (max reduced from 200 to 5 packs)</a:t>
          </a:r>
        </a:p>
      </dsp:txBody>
      <dsp:txXfrm>
        <a:off x="725319" y="2355390"/>
        <a:ext cx="5925933" cy="627982"/>
      </dsp:txXfrm>
    </dsp:sp>
    <dsp:sp modelId="{156F9B09-4A43-47A1-A628-C3B85CB9E082}">
      <dsp:nvSpPr>
        <dsp:cNvPr id="0" name=""/>
        <dsp:cNvSpPr/>
      </dsp:nvSpPr>
      <dsp:spPr>
        <a:xfrm>
          <a:off x="0" y="3140368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519C35-93BE-42DD-B506-34703BA1205B}">
      <dsp:nvSpPr>
        <dsp:cNvPr id="0" name=""/>
        <dsp:cNvSpPr/>
      </dsp:nvSpPr>
      <dsp:spPr>
        <a:xfrm>
          <a:off x="189964" y="3281664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A9B79-1D6B-45F1-AB07-2402A3B9570E}">
      <dsp:nvSpPr>
        <dsp:cNvPr id="0" name=""/>
        <dsp:cNvSpPr/>
      </dsp:nvSpPr>
      <dsp:spPr>
        <a:xfrm>
          <a:off x="725319" y="3140368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Normalized brand names (RRD:Red Rock Deli, SNWTS:Smiths)</a:t>
          </a:r>
        </a:p>
      </dsp:txBody>
      <dsp:txXfrm>
        <a:off x="725319" y="3140368"/>
        <a:ext cx="5925933" cy="627982"/>
      </dsp:txXfrm>
    </dsp:sp>
    <dsp:sp modelId="{6FC361F6-1BCC-4B20-82A3-8BDF8B7D39D5}">
      <dsp:nvSpPr>
        <dsp:cNvPr id="0" name=""/>
        <dsp:cNvSpPr/>
      </dsp:nvSpPr>
      <dsp:spPr>
        <a:xfrm>
          <a:off x="0" y="3925347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9BC95A-5485-4143-89BD-7891BCADBFB3}">
      <dsp:nvSpPr>
        <dsp:cNvPr id="0" name=""/>
        <dsp:cNvSpPr/>
      </dsp:nvSpPr>
      <dsp:spPr>
        <a:xfrm>
          <a:off x="189964" y="4066643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A7D37-C277-4667-AEA3-EE6B12524D3D}">
      <dsp:nvSpPr>
        <dsp:cNvPr id="0" name=""/>
        <dsp:cNvSpPr/>
      </dsp:nvSpPr>
      <dsp:spPr>
        <a:xfrm>
          <a:off x="725319" y="3925347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Removed 667 sales outliers using IQR method</a:t>
          </a:r>
        </a:p>
      </dsp:txBody>
      <dsp:txXfrm>
        <a:off x="725319" y="3925347"/>
        <a:ext cx="5925933" cy="627982"/>
      </dsp:txXfrm>
    </dsp:sp>
    <dsp:sp modelId="{FE993A48-622B-4B7C-B241-DF237BCD1A9F}">
      <dsp:nvSpPr>
        <dsp:cNvPr id="0" name=""/>
        <dsp:cNvSpPr/>
      </dsp:nvSpPr>
      <dsp:spPr>
        <a:xfrm>
          <a:off x="0" y="4710325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F8BD82-D452-40AD-9505-B50A93781292}">
      <dsp:nvSpPr>
        <dsp:cNvPr id="0" name=""/>
        <dsp:cNvSpPr/>
      </dsp:nvSpPr>
      <dsp:spPr>
        <a:xfrm>
          <a:off x="189964" y="4851621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6610C-2F17-45F2-9F32-FB8B29C4928D}">
      <dsp:nvSpPr>
        <dsp:cNvPr id="0" name=""/>
        <dsp:cNvSpPr/>
      </dsp:nvSpPr>
      <dsp:spPr>
        <a:xfrm>
          <a:off x="725319" y="4710325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Final Dataset: 264,836 transactions with clean, reliable data</a:t>
          </a:r>
        </a:p>
      </dsp:txBody>
      <dsp:txXfrm>
        <a:off x="725319" y="4710325"/>
        <a:ext cx="5925933" cy="6279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438D2-761A-4210-979A-DE84BC3122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52D6E-F5AD-4422-B0C4-CE110B47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67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52D6E-F5AD-4422-B0C4-CE110B47F0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63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DEFD5-625F-D16C-69C7-03EA0A558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86521-8197-2E8E-CDE6-0CFCA61590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D1D6B-469A-F256-F0A7-16F80BD33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E4E61-C8B0-9019-1903-B4F90DD5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76B2B-36DE-2B35-292A-25D9D0CD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38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F99C1-43D7-AD82-CD95-EC69002C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13DE-4014-5A82-FC20-0ADB866A5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3BC8C-5D71-FE99-A6ED-B41BC95A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95557-A7CB-6D7E-9936-35480ABBB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55490-310C-D46C-8171-203A6F94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42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180D-1278-B40B-D664-17F3357CD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526E2-614D-35B4-EE0E-376B15AC6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70954-5BB8-D426-4B88-37AA334F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EA30B-9CD8-E043-9314-637C5913A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FA5E2-3B79-C57D-6678-03379BC5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0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A9E3-8BEC-871B-A49A-F706B2F6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716E2-E71F-15D7-F135-5818DFEB1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6DEED-E4FB-50C6-D7B1-09E4BF540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424F68-9E5E-2FF2-A0F4-DC1A13D5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40BDC-7E49-16F0-1AE1-952B11A4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BFE0C-3BBC-01B9-14E9-C68C6EA7F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59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EC396-5867-ADC0-17E1-CEEBC834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D5304-0EC0-4613-23A8-B80F9A65A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4591B-AE7C-C2F5-639E-71959E3E0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4FEA7-DBF0-A3D3-4F59-9C1EEA7202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E48D27-4141-BA4F-0C22-9AC0E1F33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1FFD19-3047-7ABB-A6D5-68307DA45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A84D2-0605-44C7-B9B4-554B51FF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9887AB-EAAA-3418-5E9F-D624C978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63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DECD3-C0D2-B3C4-0A80-17FA09EE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8D5C87-0CF0-89A9-4006-06A98CA31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2A79E2-5B88-5BF7-72B4-0904AAD2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016E2-1289-0B8E-6215-8E0DD39C1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5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6046AA-B9F5-B82F-8B35-057D086F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42120-692B-EABD-A728-FB9B6B313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1987A-66A7-4E73-68B8-909BCD36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FA731-EC04-97DC-D6A4-E78892512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E0FF8-1E19-E00F-B699-2CAA93793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6CD46-BA5F-1248-4896-67ED4F2FC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81507-BE6F-A738-6511-216533FE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55377-6776-A7C1-34FA-5847FC3B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A4749-23A2-7A76-1BB1-B1E3BC75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4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2D050-5DCA-48CA-B228-95E3F969B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FA79-5E30-A92F-DA12-28E32D42F4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70608-1785-A5E4-CFE7-29CC3CC1D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3FEAD-D260-662E-AF54-74F5D5045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86878-6FC9-4DB9-2F7F-4E1440DE8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11E9E-6638-AD7B-050A-68D967FD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4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6FDC-4676-E513-0F44-4E947E3BF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1A954-44A4-8BBF-C33E-EF784EE09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C3322-5238-17E6-6E5A-8532B25FB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40355-C07C-0D2F-03A3-E21288FE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9ECE8-9C6B-9B65-30D4-9330F896F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6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EC7B2-8E99-98F8-55A5-43DA74BF4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4AF5E-1F63-ABC9-A780-5238DB67A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37286-EA33-CCC6-C259-4C1C1D94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6164F-4901-D121-73EA-68CFFAB56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869EC-C8EE-4391-5DA1-2CF3B9FC7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25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F9D9-0A47-490C-843E-36E7ECBA0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6B446-A8F1-7A40-B1E5-023E7854F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AE923-E4CB-BCA2-E693-0AE63EE3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93D08-177C-2ED8-602C-0BEAA24E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E06F1-0597-E75F-2071-002E7B32A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5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D5FE59-72F5-05EF-833B-5C04125CC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11B6E-177C-6D53-D0BA-41C5FE5DB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64327-5E22-1A4E-D476-E9084EACD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CD809-536A-49A2-AA96-C116CA972B9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B4A3E-1ACD-3E14-4851-5618A9C5A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FF17E-64EE-DD09-B79F-7D8DA6C03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28CEB-5191-4A0D-8445-464977D28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9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E9A05-CE87-9A42-24AF-A06E8F007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Snack Chips Category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4E3C0-0641-9F25-EBBB-851F2B42A9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Customer Segmentation &amp; Store Trial Evaluation</a:t>
            </a:r>
          </a:p>
          <a:p>
            <a:r>
              <a:rPr lang="en-US"/>
              <a:t>Strategic Recommendations for Category Growth</a:t>
            </a:r>
          </a:p>
        </p:txBody>
      </p:sp>
    </p:spTree>
    <p:extLst>
      <p:ext uri="{BB962C8B-B14F-4D97-AF65-F5344CB8AC3E}">
        <p14:creationId xmlns:p14="http://schemas.microsoft.com/office/powerpoint/2010/main" val="1054762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B76DD-27A3-1AD7-72D1-C58089308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Executive Summary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3556A557-E4AB-12C3-C1FD-AA7B005FC2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978217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7817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57849-C790-6A83-0C90-C6A38E78C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Customer Spending: Who Pays Premium Prices?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0426E-F137-0A40-97ED-AD7DADA0B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INSIGHT:</a:t>
            </a:r>
          </a:p>
          <a:p>
            <a:r>
              <a:rPr lang="en-US" sz="1700" dirty="0"/>
              <a:t>Mainstream Young Singles &amp; Couples pay the highest price per unit ($4.06)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RECOMMENDATION</a:t>
            </a:r>
            <a:r>
              <a:rPr lang="en-US" sz="1700" dirty="0"/>
              <a:t>: </a:t>
            </a:r>
          </a:p>
          <a:p>
            <a:r>
              <a:rPr lang="en-US" sz="1700" dirty="0"/>
              <a:t>Avoid deep discounts for this segment</a:t>
            </a:r>
          </a:p>
          <a:p>
            <a:r>
              <a:rPr lang="en-US" sz="1700" dirty="0"/>
              <a:t>Focus on brand-led promotions and 'New Flavor' launches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183D4F-179A-8B49-1450-6759C68E02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547736"/>
            <a:ext cx="6903720" cy="376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09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0F9BD-2884-563E-C68B-BA8746A9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Pack Size Analysis: The 175g 'Sweet Spot'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8A7DF-493C-CD45-6D11-8D3042A64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 INSIGHT:</a:t>
            </a:r>
          </a:p>
          <a:p>
            <a:r>
              <a:rPr lang="en-US" sz="1700" dirty="0"/>
              <a:t>175g bags have the highest transaction volume (60,000+)</a:t>
            </a:r>
          </a:p>
          <a:p>
            <a:endParaRPr lang="en-US" sz="1700" dirty="0"/>
          </a:p>
          <a:p>
            <a:r>
              <a:rPr lang="en-US" sz="1700" dirty="0"/>
              <a:t> </a:t>
            </a:r>
            <a:r>
              <a:rPr lang="en-US" sz="1700" b="1" dirty="0"/>
              <a:t>RECOMMENDATION: </a:t>
            </a:r>
            <a:r>
              <a:rPr lang="en-US" sz="1700" dirty="0"/>
              <a:t>Maximize shelf space for 175g format</a:t>
            </a:r>
          </a:p>
          <a:p>
            <a:r>
              <a:rPr lang="en-US" sz="1700" dirty="0"/>
              <a:t>Reduce small-format packs (&lt;100g) in high-traffic locations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AD559-E8DF-D35A-631E-51BE9D4A92C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720329"/>
            <a:ext cx="6903720" cy="341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2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C25D3-7806-ADDF-08B0-130612C88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Brands by Total Sales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C0B35-3362-7E76-925E-92C0AB97D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b="1" dirty="0"/>
              <a:t>INSIGHT:</a:t>
            </a:r>
          </a:p>
          <a:p>
            <a:r>
              <a:rPr lang="en-US" sz="1900" dirty="0"/>
              <a:t>Kettle + Smiths = 40% of total chip market ($572K out of $1.4M)</a:t>
            </a:r>
          </a:p>
          <a:p>
            <a:endParaRPr lang="en-US" sz="1900" dirty="0"/>
          </a:p>
          <a:p>
            <a:r>
              <a:rPr lang="en-US" sz="1900" b="1" dirty="0"/>
              <a:t>RECOMMENDATION: </a:t>
            </a:r>
            <a:r>
              <a:rPr lang="en-US" sz="1900" dirty="0"/>
              <a:t>Protect premium brands for niche segments</a:t>
            </a:r>
          </a:p>
          <a:p>
            <a:r>
              <a:rPr lang="en-US" sz="1900" dirty="0"/>
              <a:t>Maintain curated selection of Tyrrells and Red Rock Deli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9C76D-6C66-A6B9-7304-FC090422D26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366514"/>
            <a:ext cx="6903720" cy="412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83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129155-B9E4-01EA-5103-5A28537F856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4489B-41FC-BF46-C0BB-A3040591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QVI Trial Store </a:t>
            </a:r>
          </a:p>
        </p:txBody>
      </p:sp>
      <p:graphicFrame>
        <p:nvGraphicFramePr>
          <p:cNvPr id="13" name="Text Placeholder 2">
            <a:extLst>
              <a:ext uri="{FF2B5EF4-FFF2-40B4-BE49-F238E27FC236}">
                <a16:creationId xmlns:a16="http://schemas.microsoft.com/office/drawing/2014/main" id="{CCCFB8BD-0C75-BF00-64C9-9D7C3C9A01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41824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9328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98130-8AD7-C4AD-CAC3-482CA26F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039" y="510047"/>
            <a:ext cx="3450385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b="1" dirty="0"/>
              <a:t>Pre-Trial (Jul 2018–Jan 2019) vs Trial (Feb–Apr 2019).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5CF87-A28A-94B4-D95A-B94AF5C98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1144" y="510047"/>
            <a:ext cx="68580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/>
              <a:t>Insight: </a:t>
            </a:r>
            <a:r>
              <a:rPr lang="en-US" sz="2400" i="1" dirty="0"/>
              <a:t>Performance measured by comparing sales growth between trial and control stores</a:t>
            </a:r>
            <a:r>
              <a:rPr lang="en-US" sz="1800" i="1" dirty="0"/>
              <a:t>.</a:t>
            </a:r>
          </a:p>
          <a:p>
            <a:r>
              <a:rPr lang="en-US" sz="2000" b="1" i="1" dirty="0"/>
              <a:t>3 trial stores </a:t>
            </a:r>
            <a:r>
              <a:rPr lang="en-US" sz="2000" i="1" dirty="0"/>
              <a:t>(</a:t>
            </a:r>
            <a:r>
              <a:rPr lang="en-US" sz="2000" b="1" i="1" dirty="0"/>
              <a:t>77, 86, 88</a:t>
            </a:r>
            <a:r>
              <a:rPr lang="en-US" sz="2000" i="1" dirty="0"/>
              <a:t>) matched with control stores (</a:t>
            </a:r>
            <a:r>
              <a:rPr lang="en-US" sz="2000" b="1" i="1" dirty="0"/>
              <a:t>71, 155, 159</a:t>
            </a:r>
            <a:r>
              <a:rPr lang="en-US" sz="2000" i="1" dirty="0"/>
              <a:t>)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B37030-71F0-4997-D4C9-12345B1F9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907208"/>
            <a:ext cx="3584448" cy="30378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1BDDFB-48E9-5A7F-A21E-90B00BC16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599" y="2907208"/>
            <a:ext cx="3584448" cy="30378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50E868-7D79-9C15-F823-25D6B5EA3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415" y="2907208"/>
            <a:ext cx="3584448" cy="303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17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F40B-9D85-D917-29AA-17DD339DC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Trial Store Analysis: Store 77 vs Control Store 71</a:t>
            </a:r>
          </a:p>
        </p:txBody>
      </p:sp>
      <p:graphicFrame>
        <p:nvGraphicFramePr>
          <p:cNvPr id="24" name="Text Placeholder 2">
            <a:extLst>
              <a:ext uri="{FF2B5EF4-FFF2-40B4-BE49-F238E27FC236}">
                <a16:creationId xmlns:a16="http://schemas.microsoft.com/office/drawing/2014/main" id="{211716C3-C702-1B87-0B75-66D7D43137B9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2255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4CAF93-0C50-257A-9FA8-06AC3AC08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Trial Performance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D1A71-709A-6A8F-22A9-A1A99F967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7034" y="2194102"/>
            <a:ext cx="4438036" cy="39085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 </a:t>
            </a:r>
            <a:r>
              <a:rPr lang="en-US" sz="2000" b="1" dirty="0"/>
              <a:t>SUMMARY METRICS:</a:t>
            </a:r>
          </a:p>
          <a:p>
            <a:r>
              <a:rPr lang="en-US" sz="2000" dirty="0"/>
              <a:t>• Success Rate: 67% (2 out of 3 stores)</a:t>
            </a:r>
          </a:p>
          <a:p>
            <a:r>
              <a:rPr lang="en-US" sz="2000" dirty="0"/>
              <a:t>• Average Impact: +$37.90</a:t>
            </a:r>
          </a:p>
          <a:p>
            <a:endParaRPr lang="en-US" sz="2000" dirty="0"/>
          </a:p>
          <a:p>
            <a:r>
              <a:rPr lang="en-US" sz="2000" dirty="0"/>
              <a:t>Store 86: +$109.65 impact </a:t>
            </a:r>
          </a:p>
          <a:p>
            <a:r>
              <a:rPr lang="en-US" sz="2000" dirty="0"/>
              <a:t>Store 88: +$74.78 impact </a:t>
            </a:r>
          </a:p>
          <a:p>
            <a:r>
              <a:rPr lang="en-US" sz="2000" dirty="0"/>
              <a:t>Store 77: -$70.74 impact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504B8-4DA9-EC55-B96A-463852D0B7F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610" y="2030656"/>
            <a:ext cx="4737650" cy="281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262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5408913-B323-422F-B521-2957A5B7F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92" y="0"/>
            <a:ext cx="7299977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0B788-9A71-52C8-3893-8D0F2E492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749"/>
            <a:ext cx="4953001" cy="472650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Segment-Specific Brand Strategies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8E034AA-0E13-85E2-911E-5D8B45E0C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8022" y="713313"/>
            <a:ext cx="3815778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 b="1"/>
              <a:t>OLDER FAMILIES (Budget/Mainstream):</a:t>
            </a:r>
          </a:p>
          <a:p>
            <a:r>
              <a:rPr lang="en-US" sz="1600"/>
              <a:t>   45,015 transactions (highest volume)</a:t>
            </a:r>
          </a:p>
          <a:p>
            <a:r>
              <a:rPr lang="en-US" sz="1600"/>
              <a:t>    Strategy: Multi-buy promotions (e.g., 2 for $7)</a:t>
            </a:r>
          </a:p>
          <a:p>
            <a:endParaRPr lang="en-US" sz="1600"/>
          </a:p>
          <a:p>
            <a:r>
              <a:rPr lang="en-US" sz="1600" b="1"/>
              <a:t> YOUNG SINGLES/COUPLES (Mainstream</a:t>
            </a:r>
            <a:r>
              <a:rPr lang="en-US" sz="1600"/>
              <a:t>):</a:t>
            </a:r>
          </a:p>
          <a:p>
            <a:r>
              <a:rPr lang="en-US" sz="1600"/>
              <a:t>    Pay premium price ($4.06/pack)</a:t>
            </a:r>
          </a:p>
          <a:p>
            <a:r>
              <a:rPr lang="en-US" sz="1600"/>
              <a:t>    Strategy: 'New Flavor' launches, avoid discounting</a:t>
            </a:r>
          </a:p>
          <a:p>
            <a:endParaRPr lang="en-US" sz="1600"/>
          </a:p>
          <a:p>
            <a:r>
              <a:rPr lang="en-US" sz="1600" b="1"/>
              <a:t> PREMIUM CUSTOMERS (All segments)</a:t>
            </a:r>
            <a:r>
              <a:rPr lang="en-US" sz="1600"/>
              <a:t>:</a:t>
            </a:r>
          </a:p>
          <a:p>
            <a:r>
              <a:rPr lang="en-US" sz="1600"/>
              <a:t> Smaller group, loyal to boutique brands</a:t>
            </a:r>
          </a:p>
          <a:p>
            <a:r>
              <a:rPr lang="en-US" sz="1600"/>
              <a:t> Strategy: Maintain curated selection of Tyrrells, Red Rock Deli</a:t>
            </a:r>
          </a:p>
        </p:txBody>
      </p:sp>
    </p:spTree>
    <p:extLst>
      <p:ext uri="{BB962C8B-B14F-4D97-AF65-F5344CB8AC3E}">
        <p14:creationId xmlns:p14="http://schemas.microsoft.com/office/powerpoint/2010/main" val="2297423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5408913-B323-422F-B521-2957A5B7F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770EBD-5B77-46EC-BF58-EF27ACD6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92" y="0"/>
            <a:ext cx="7299977" cy="6858000"/>
          </a:xfrm>
          <a:custGeom>
            <a:avLst/>
            <a:gdLst>
              <a:gd name="connsiteX0" fmla="*/ 1008599 w 7299977"/>
              <a:gd name="connsiteY0" fmla="*/ 0 h 6858000"/>
              <a:gd name="connsiteX1" fmla="*/ 4420653 w 7299977"/>
              <a:gd name="connsiteY1" fmla="*/ 0 h 6858000"/>
              <a:gd name="connsiteX2" fmla="*/ 5511704 w 7299977"/>
              <a:gd name="connsiteY2" fmla="*/ 0 h 6858000"/>
              <a:gd name="connsiteX3" fmla="*/ 7299977 w 7299977"/>
              <a:gd name="connsiteY3" fmla="*/ 0 h 6858000"/>
              <a:gd name="connsiteX4" fmla="*/ 7299977 w 7299977"/>
              <a:gd name="connsiteY4" fmla="*/ 6858000 h 6858000"/>
              <a:gd name="connsiteX5" fmla="*/ 5511704 w 7299977"/>
              <a:gd name="connsiteY5" fmla="*/ 6858000 h 6858000"/>
              <a:gd name="connsiteX6" fmla="*/ 4420653 w 7299977"/>
              <a:gd name="connsiteY6" fmla="*/ 6858000 h 6858000"/>
              <a:gd name="connsiteX7" fmla="*/ 1592997 w 7299977"/>
              <a:gd name="connsiteY7" fmla="*/ 6858000 h 6858000"/>
              <a:gd name="connsiteX8" fmla="*/ 1232473 w 7299977"/>
              <a:gd name="connsiteY8" fmla="*/ 6658805 h 6858000"/>
              <a:gd name="connsiteX9" fmla="*/ 1075471 w 7299977"/>
              <a:gd name="connsiteY9" fmla="*/ 6431153 h 6858000"/>
              <a:gd name="connsiteX10" fmla="*/ 1020229 w 7299977"/>
              <a:gd name="connsiteY10" fmla="*/ 6367127 h 6858000"/>
              <a:gd name="connsiteX11" fmla="*/ 883579 w 7299977"/>
              <a:gd name="connsiteY11" fmla="*/ 6281757 h 6858000"/>
              <a:gd name="connsiteX12" fmla="*/ 645167 w 7299977"/>
              <a:gd name="connsiteY12" fmla="*/ 6100347 h 6858000"/>
              <a:gd name="connsiteX13" fmla="*/ 732391 w 7299977"/>
              <a:gd name="connsiteY13" fmla="*/ 6057663 h 6858000"/>
              <a:gd name="connsiteX14" fmla="*/ 985339 w 7299977"/>
              <a:gd name="connsiteY14" fmla="*/ 6167932 h 6858000"/>
              <a:gd name="connsiteX15" fmla="*/ 1168509 w 7299977"/>
              <a:gd name="connsiteY15" fmla="*/ 6196388 h 6858000"/>
              <a:gd name="connsiteX16" fmla="*/ 909746 w 7299977"/>
              <a:gd name="connsiteY16" fmla="*/ 6004307 h 6858000"/>
              <a:gd name="connsiteX17" fmla="*/ 659704 w 7299977"/>
              <a:gd name="connsiteY17" fmla="*/ 5755314 h 6858000"/>
              <a:gd name="connsiteX18" fmla="*/ 851597 w 7299977"/>
              <a:gd name="connsiteY18" fmla="*/ 5801555 h 6858000"/>
              <a:gd name="connsiteX19" fmla="*/ 860319 w 7299977"/>
              <a:gd name="connsiteY19" fmla="*/ 5769542 h 6858000"/>
              <a:gd name="connsiteX20" fmla="*/ 691686 w 7299977"/>
              <a:gd name="connsiteY20" fmla="*/ 5474306 h 6858000"/>
              <a:gd name="connsiteX21" fmla="*/ 610278 w 7299977"/>
              <a:gd name="connsiteY21" fmla="*/ 5353367 h 6858000"/>
              <a:gd name="connsiteX22" fmla="*/ 238123 w 7299977"/>
              <a:gd name="connsiteY22" fmla="*/ 4994104 h 6858000"/>
              <a:gd name="connsiteX23" fmla="*/ 592833 w 7299977"/>
              <a:gd name="connsiteY23" fmla="*/ 5154171 h 6858000"/>
              <a:gd name="connsiteX24" fmla="*/ 226494 w 7299977"/>
              <a:gd name="connsiteY24" fmla="*/ 4805580 h 6858000"/>
              <a:gd name="connsiteX25" fmla="*/ 49139 w 7299977"/>
              <a:gd name="connsiteY25" fmla="*/ 4677526 h 6858000"/>
              <a:gd name="connsiteX26" fmla="*/ 5527 w 7299977"/>
              <a:gd name="connsiteY26" fmla="*/ 4602828 h 6858000"/>
              <a:gd name="connsiteX27" fmla="*/ 84029 w 7299977"/>
              <a:gd name="connsiteY27" fmla="*/ 4585042 h 6858000"/>
              <a:gd name="connsiteX28" fmla="*/ 325347 w 7299977"/>
              <a:gd name="connsiteY28" fmla="*/ 4613499 h 6858000"/>
              <a:gd name="connsiteX29" fmla="*/ 25879 w 7299977"/>
              <a:gd name="connsiteY29" fmla="*/ 4378734 h 6858000"/>
              <a:gd name="connsiteX30" fmla="*/ 249753 w 7299977"/>
              <a:gd name="connsiteY30" fmla="*/ 4414305 h 6858000"/>
              <a:gd name="connsiteX31" fmla="*/ 313718 w 7299977"/>
              <a:gd name="connsiteY31" fmla="*/ 4321821 h 6858000"/>
              <a:gd name="connsiteX32" fmla="*/ 418386 w 7299977"/>
              <a:gd name="connsiteY32" fmla="*/ 4172424 h 6858000"/>
              <a:gd name="connsiteX33" fmla="*/ 491072 w 7299977"/>
              <a:gd name="connsiteY33" fmla="*/ 4090612 h 6858000"/>
              <a:gd name="connsiteX34" fmla="*/ 520147 w 7299977"/>
              <a:gd name="connsiteY34" fmla="*/ 3827390 h 6858000"/>
              <a:gd name="connsiteX35" fmla="*/ 459090 w 7299977"/>
              <a:gd name="connsiteY35" fmla="*/ 3539269 h 6858000"/>
              <a:gd name="connsiteX36" fmla="*/ 290458 w 7299977"/>
              <a:gd name="connsiteY36" fmla="*/ 3393429 h 6858000"/>
              <a:gd name="connsiteX37" fmla="*/ 339884 w 7299977"/>
              <a:gd name="connsiteY37" fmla="*/ 3229805 h 6858000"/>
              <a:gd name="connsiteX38" fmla="*/ 697501 w 7299977"/>
              <a:gd name="connsiteY38" fmla="*/ 3329402 h 6858000"/>
              <a:gd name="connsiteX39" fmla="*/ 165437 w 7299977"/>
              <a:gd name="connsiteY39" fmla="*/ 2941684 h 6858000"/>
              <a:gd name="connsiteX40" fmla="*/ 255568 w 7299977"/>
              <a:gd name="connsiteY40" fmla="*/ 2923898 h 6858000"/>
              <a:gd name="connsiteX41" fmla="*/ 578296 w 7299977"/>
              <a:gd name="connsiteY41" fmla="*/ 2703362 h 6858000"/>
              <a:gd name="connsiteX42" fmla="*/ 595740 w 7299977"/>
              <a:gd name="connsiteY42" fmla="*/ 2692689 h 6858000"/>
              <a:gd name="connsiteX43" fmla="*/ 650982 w 7299977"/>
              <a:gd name="connsiteY43" fmla="*/ 2553965 h 6858000"/>
              <a:gd name="connsiteX44" fmla="*/ 825429 w 7299977"/>
              <a:gd name="connsiteY44" fmla="*/ 2532623 h 6858000"/>
              <a:gd name="connsiteX45" fmla="*/ 970802 w 7299977"/>
              <a:gd name="connsiteY45" fmla="*/ 2564636 h 6858000"/>
              <a:gd name="connsiteX46" fmla="*/ 1127805 w 7299977"/>
              <a:gd name="connsiteY46" fmla="*/ 2525509 h 6858000"/>
              <a:gd name="connsiteX47" fmla="*/ 1267362 w 7299977"/>
              <a:gd name="connsiteY47" fmla="*/ 2543294 h 6858000"/>
              <a:gd name="connsiteX48" fmla="*/ 1386568 w 7299977"/>
              <a:gd name="connsiteY48" fmla="*/ 2518395 h 6858000"/>
              <a:gd name="connsiteX49" fmla="*/ 1270270 w 7299977"/>
              <a:gd name="connsiteY49" fmla="*/ 2401012 h 6858000"/>
              <a:gd name="connsiteX50" fmla="*/ 1107453 w 7299977"/>
              <a:gd name="connsiteY50" fmla="*/ 2401012 h 6858000"/>
              <a:gd name="connsiteX51" fmla="*/ 991154 w 7299977"/>
              <a:gd name="connsiteY51" fmla="*/ 2326314 h 6858000"/>
              <a:gd name="connsiteX52" fmla="*/ 880671 w 7299977"/>
              <a:gd name="connsiteY52" fmla="*/ 2191146 h 6858000"/>
              <a:gd name="connsiteX53" fmla="*/ 491072 w 7299977"/>
              <a:gd name="connsiteY53" fmla="*/ 1974165 h 6858000"/>
              <a:gd name="connsiteX54" fmla="*/ 421293 w 7299977"/>
              <a:gd name="connsiteY54" fmla="*/ 1892353 h 6858000"/>
              <a:gd name="connsiteX55" fmla="*/ 1531941 w 7299977"/>
              <a:gd name="connsiteY55" fmla="*/ 2208931 h 6858000"/>
              <a:gd name="connsiteX56" fmla="*/ 1188861 w 7299977"/>
              <a:gd name="connsiteY56" fmla="*/ 2077320 h 6858000"/>
              <a:gd name="connsiteX57" fmla="*/ 1421458 w 7299977"/>
              <a:gd name="connsiteY57" fmla="*/ 2102219 h 6858000"/>
              <a:gd name="connsiteX58" fmla="*/ 1549386 w 7299977"/>
              <a:gd name="connsiteY58" fmla="*/ 2013292 h 6858000"/>
              <a:gd name="connsiteX59" fmla="*/ 1549386 w 7299977"/>
              <a:gd name="connsiteY59" fmla="*/ 1984836 h 6858000"/>
              <a:gd name="connsiteX60" fmla="*/ 1453440 w 7299977"/>
              <a:gd name="connsiteY60" fmla="*/ 1903025 h 6858000"/>
              <a:gd name="connsiteX61" fmla="*/ 1398198 w 7299977"/>
              <a:gd name="connsiteY61" fmla="*/ 1849668 h 6858000"/>
              <a:gd name="connsiteX62" fmla="*/ 1247011 w 7299977"/>
              <a:gd name="connsiteY62" fmla="*/ 1657587 h 6858000"/>
              <a:gd name="connsiteX63" fmla="*/ 1354586 w 7299977"/>
              <a:gd name="connsiteY63" fmla="*/ 1636245 h 6858000"/>
              <a:gd name="connsiteX64" fmla="*/ 1395290 w 7299977"/>
              <a:gd name="connsiteY64" fmla="*/ 1597117 h 6858000"/>
              <a:gd name="connsiteX65" fmla="*/ 1366216 w 7299977"/>
              <a:gd name="connsiteY65" fmla="*/ 1540204 h 6858000"/>
              <a:gd name="connsiteX66" fmla="*/ 1031858 w 7299977"/>
              <a:gd name="connsiteY66" fmla="*/ 1365909 h 6858000"/>
              <a:gd name="connsiteX67" fmla="*/ 1005692 w 7299977"/>
              <a:gd name="connsiteY67" fmla="*/ 1230741 h 6858000"/>
              <a:gd name="connsiteX68" fmla="*/ 1069655 w 7299977"/>
              <a:gd name="connsiteY68" fmla="*/ 1209399 h 6858000"/>
              <a:gd name="connsiteX69" fmla="*/ 1142342 w 7299977"/>
              <a:gd name="connsiteY69" fmla="*/ 1220069 h 6858000"/>
              <a:gd name="connsiteX70" fmla="*/ 1084193 w 7299977"/>
              <a:gd name="connsiteY70" fmla="*/ 1113358 h 6858000"/>
              <a:gd name="connsiteX71" fmla="*/ 848689 w 7299977"/>
              <a:gd name="connsiteY71" fmla="*/ 1006647 h 6858000"/>
              <a:gd name="connsiteX72" fmla="*/ 805077 w 7299977"/>
              <a:gd name="connsiteY72" fmla="*/ 949734 h 6858000"/>
              <a:gd name="connsiteX73" fmla="*/ 863226 w 7299977"/>
              <a:gd name="connsiteY73" fmla="*/ 921277 h 6858000"/>
              <a:gd name="connsiteX74" fmla="*/ 906838 w 7299977"/>
              <a:gd name="connsiteY74" fmla="*/ 910606 h 6858000"/>
              <a:gd name="connsiteX75" fmla="*/ 5527 w 7299977"/>
              <a:gd name="connsiteY75" fmla="*/ 465975 h 6858000"/>
              <a:gd name="connsiteX76" fmla="*/ 209049 w 7299977"/>
              <a:gd name="connsiteY76" fmla="*/ 462417 h 6858000"/>
              <a:gd name="connsiteX77" fmla="*/ 409664 w 7299977"/>
              <a:gd name="connsiteY77" fmla="*/ 533558 h 6858000"/>
              <a:gd name="connsiteX78" fmla="*/ 621908 w 7299977"/>
              <a:gd name="connsiteY78" fmla="*/ 522887 h 6858000"/>
              <a:gd name="connsiteX79" fmla="*/ 822522 w 7299977"/>
              <a:gd name="connsiteY79" fmla="*/ 558458 h 6858000"/>
              <a:gd name="connsiteX80" fmla="*/ 996969 w 7299977"/>
              <a:gd name="connsiteY80" fmla="*/ 558458 h 6858000"/>
              <a:gd name="connsiteX81" fmla="*/ 834151 w 7299977"/>
              <a:gd name="connsiteY81" fmla="*/ 505101 h 6858000"/>
              <a:gd name="connsiteX82" fmla="*/ 773095 w 7299977"/>
              <a:gd name="connsiteY82" fmla="*/ 416176 h 6858000"/>
              <a:gd name="connsiteX83" fmla="*/ 793447 w 7299977"/>
              <a:gd name="connsiteY83" fmla="*/ 334364 h 6858000"/>
              <a:gd name="connsiteX84" fmla="*/ 860319 w 7299977"/>
              <a:gd name="connsiteY84" fmla="*/ 359262 h 6858000"/>
              <a:gd name="connsiteX85" fmla="*/ 938820 w 7299977"/>
              <a:gd name="connsiteY85" fmla="*/ 451747 h 6858000"/>
              <a:gd name="connsiteX86" fmla="*/ 956265 w 7299977"/>
              <a:gd name="connsiteY86" fmla="*/ 394834 h 6858000"/>
              <a:gd name="connsiteX87" fmla="*/ 1002784 w 7299977"/>
              <a:gd name="connsiteY87" fmla="*/ 352148 h 6858000"/>
              <a:gd name="connsiteX88" fmla="*/ 1270270 w 7299977"/>
              <a:gd name="connsiteY88" fmla="*/ 373491 h 6858000"/>
              <a:gd name="connsiteX89" fmla="*/ 1092915 w 7299977"/>
              <a:gd name="connsiteY89" fmla="*/ 192082 h 6858000"/>
              <a:gd name="connsiteX90" fmla="*/ 979525 w 7299977"/>
              <a:gd name="connsiteY90" fmla="*/ 163625 h 6858000"/>
              <a:gd name="connsiteX91" fmla="*/ 953358 w 7299977"/>
              <a:gd name="connsiteY91" fmla="*/ 88927 h 6858000"/>
              <a:gd name="connsiteX92" fmla="*/ 1005692 w 7299977"/>
              <a:gd name="connsiteY92" fmla="*/ 71141 h 6858000"/>
              <a:gd name="connsiteX93" fmla="*/ 1267362 w 7299977"/>
              <a:gd name="connsiteY93" fmla="*/ 135168 h 6858000"/>
              <a:gd name="connsiteX94" fmla="*/ 1310975 w 7299977"/>
              <a:gd name="connsiteY94" fmla="*/ 110269 h 6858000"/>
              <a:gd name="connsiteX95" fmla="*/ 1008599 w 7299977"/>
              <a:gd name="connsiteY9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7299977" h="6858000">
                <a:moveTo>
                  <a:pt x="1008599" y="0"/>
                </a:moveTo>
                <a:lnTo>
                  <a:pt x="4420653" y="0"/>
                </a:lnTo>
                <a:lnTo>
                  <a:pt x="5511704" y="0"/>
                </a:lnTo>
                <a:lnTo>
                  <a:pt x="7299977" y="0"/>
                </a:lnTo>
                <a:lnTo>
                  <a:pt x="7299977" y="6858000"/>
                </a:lnTo>
                <a:lnTo>
                  <a:pt x="5511704" y="6858000"/>
                </a:lnTo>
                <a:lnTo>
                  <a:pt x="4420653" y="6858000"/>
                </a:lnTo>
                <a:lnTo>
                  <a:pt x="1592997" y="6858000"/>
                </a:lnTo>
                <a:cubicBezTo>
                  <a:pt x="1473792" y="6786859"/>
                  <a:pt x="1360401" y="6701489"/>
                  <a:pt x="1232473" y="6658805"/>
                </a:cubicBezTo>
                <a:cubicBezTo>
                  <a:pt x="1145250" y="6630349"/>
                  <a:pt x="1060933" y="6580550"/>
                  <a:pt x="1075471" y="6431153"/>
                </a:cubicBezTo>
                <a:cubicBezTo>
                  <a:pt x="1078378" y="6388469"/>
                  <a:pt x="1055118" y="6356456"/>
                  <a:pt x="1020229" y="6367127"/>
                </a:cubicBezTo>
                <a:cubicBezTo>
                  <a:pt x="953358" y="6388469"/>
                  <a:pt x="921375" y="6327999"/>
                  <a:pt x="883579" y="6281757"/>
                </a:cubicBezTo>
                <a:cubicBezTo>
                  <a:pt x="816707" y="6199945"/>
                  <a:pt x="752743" y="6114575"/>
                  <a:pt x="645167" y="6100347"/>
                </a:cubicBezTo>
                <a:cubicBezTo>
                  <a:pt x="665519" y="6036320"/>
                  <a:pt x="700408" y="6043434"/>
                  <a:pt x="732391" y="6057663"/>
                </a:cubicBezTo>
                <a:cubicBezTo>
                  <a:pt x="816707" y="6093234"/>
                  <a:pt x="901023" y="6132361"/>
                  <a:pt x="985339" y="6167932"/>
                </a:cubicBezTo>
                <a:cubicBezTo>
                  <a:pt x="1040581" y="6189274"/>
                  <a:pt x="1095822" y="6221287"/>
                  <a:pt x="1168509" y="6196388"/>
                </a:cubicBezTo>
                <a:cubicBezTo>
                  <a:pt x="1104545" y="6068335"/>
                  <a:pt x="996969" y="6043434"/>
                  <a:pt x="909746" y="6004307"/>
                </a:cubicBezTo>
                <a:cubicBezTo>
                  <a:pt x="802169" y="5954508"/>
                  <a:pt x="738206" y="5862025"/>
                  <a:pt x="659704" y="5755314"/>
                </a:cubicBezTo>
                <a:cubicBezTo>
                  <a:pt x="738206" y="5726858"/>
                  <a:pt x="787632" y="5805112"/>
                  <a:pt x="851597" y="5801555"/>
                </a:cubicBezTo>
                <a:cubicBezTo>
                  <a:pt x="854504" y="5790884"/>
                  <a:pt x="860319" y="5769542"/>
                  <a:pt x="860319" y="5769542"/>
                </a:cubicBezTo>
                <a:cubicBezTo>
                  <a:pt x="755650" y="5712629"/>
                  <a:pt x="709132" y="5605917"/>
                  <a:pt x="691686" y="5474306"/>
                </a:cubicBezTo>
                <a:cubicBezTo>
                  <a:pt x="685872" y="5406721"/>
                  <a:pt x="648075" y="5385379"/>
                  <a:pt x="610278" y="5353367"/>
                </a:cubicBezTo>
                <a:cubicBezTo>
                  <a:pt x="482350" y="5243097"/>
                  <a:pt x="345700" y="5143500"/>
                  <a:pt x="238123" y="4994104"/>
                </a:cubicBezTo>
                <a:cubicBezTo>
                  <a:pt x="363144" y="5011889"/>
                  <a:pt x="461997" y="5111487"/>
                  <a:pt x="592833" y="5154171"/>
                </a:cubicBezTo>
                <a:cubicBezTo>
                  <a:pt x="488165" y="4990547"/>
                  <a:pt x="351514" y="4905177"/>
                  <a:pt x="226494" y="4805580"/>
                </a:cubicBezTo>
                <a:cubicBezTo>
                  <a:pt x="168344" y="4759339"/>
                  <a:pt x="116011" y="4702425"/>
                  <a:pt x="49139" y="4677526"/>
                </a:cubicBezTo>
                <a:cubicBezTo>
                  <a:pt x="25879" y="4670412"/>
                  <a:pt x="-14826" y="4652628"/>
                  <a:pt x="5527" y="4602828"/>
                </a:cubicBezTo>
                <a:cubicBezTo>
                  <a:pt x="22972" y="4560144"/>
                  <a:pt x="54954" y="4574373"/>
                  <a:pt x="84029" y="4585042"/>
                </a:cubicBezTo>
                <a:cubicBezTo>
                  <a:pt x="153807" y="4613499"/>
                  <a:pt x="229401" y="4613499"/>
                  <a:pt x="325347" y="4613499"/>
                </a:cubicBezTo>
                <a:cubicBezTo>
                  <a:pt x="243939" y="4478331"/>
                  <a:pt x="95658" y="4521016"/>
                  <a:pt x="25879" y="4378734"/>
                </a:cubicBezTo>
                <a:cubicBezTo>
                  <a:pt x="113103" y="4353835"/>
                  <a:pt x="179975" y="4403633"/>
                  <a:pt x="249753" y="4414305"/>
                </a:cubicBezTo>
                <a:cubicBezTo>
                  <a:pt x="313718" y="4424975"/>
                  <a:pt x="328254" y="4400076"/>
                  <a:pt x="313718" y="4321821"/>
                </a:cubicBezTo>
                <a:cubicBezTo>
                  <a:pt x="290458" y="4200882"/>
                  <a:pt x="325347" y="4140411"/>
                  <a:pt x="418386" y="4172424"/>
                </a:cubicBezTo>
                <a:cubicBezTo>
                  <a:pt x="505609" y="4204438"/>
                  <a:pt x="514332" y="4158196"/>
                  <a:pt x="491072" y="4090612"/>
                </a:cubicBezTo>
                <a:cubicBezTo>
                  <a:pt x="456183" y="3991015"/>
                  <a:pt x="493979" y="3912759"/>
                  <a:pt x="520147" y="3827390"/>
                </a:cubicBezTo>
                <a:cubicBezTo>
                  <a:pt x="560851" y="3699337"/>
                  <a:pt x="543407" y="3635309"/>
                  <a:pt x="459090" y="3539269"/>
                </a:cubicBezTo>
                <a:cubicBezTo>
                  <a:pt x="409664" y="3485914"/>
                  <a:pt x="360236" y="3439672"/>
                  <a:pt x="290458" y="3393429"/>
                </a:cubicBezTo>
                <a:cubicBezTo>
                  <a:pt x="450368" y="3368530"/>
                  <a:pt x="284643" y="3283162"/>
                  <a:pt x="339884" y="3229805"/>
                </a:cubicBezTo>
                <a:cubicBezTo>
                  <a:pt x="453275" y="3208463"/>
                  <a:pt x="543407" y="3379202"/>
                  <a:pt x="697501" y="3329402"/>
                </a:cubicBezTo>
                <a:cubicBezTo>
                  <a:pt x="511425" y="3183563"/>
                  <a:pt x="302087" y="3137322"/>
                  <a:pt x="165437" y="2941684"/>
                </a:cubicBezTo>
                <a:cubicBezTo>
                  <a:pt x="197419" y="2899000"/>
                  <a:pt x="229401" y="2941684"/>
                  <a:pt x="255568" y="2923898"/>
                </a:cubicBezTo>
                <a:cubicBezTo>
                  <a:pt x="255568" y="2913227"/>
                  <a:pt x="560851" y="2980812"/>
                  <a:pt x="578296" y="2703362"/>
                </a:cubicBezTo>
                <a:cubicBezTo>
                  <a:pt x="584111" y="2703362"/>
                  <a:pt x="589926" y="2703362"/>
                  <a:pt x="595740" y="2692689"/>
                </a:cubicBezTo>
                <a:cubicBezTo>
                  <a:pt x="627722" y="2653563"/>
                  <a:pt x="598648" y="2561080"/>
                  <a:pt x="650982" y="2553965"/>
                </a:cubicBezTo>
                <a:cubicBezTo>
                  <a:pt x="709132" y="2546851"/>
                  <a:pt x="764373" y="2514837"/>
                  <a:pt x="825429" y="2532623"/>
                </a:cubicBezTo>
                <a:cubicBezTo>
                  <a:pt x="871949" y="2546851"/>
                  <a:pt x="921375" y="2564636"/>
                  <a:pt x="970802" y="2564636"/>
                </a:cubicBezTo>
                <a:cubicBezTo>
                  <a:pt x="1023136" y="2564636"/>
                  <a:pt x="1095822" y="2685576"/>
                  <a:pt x="1127805" y="2525509"/>
                </a:cubicBezTo>
                <a:cubicBezTo>
                  <a:pt x="1127805" y="2518395"/>
                  <a:pt x="1217936" y="2536181"/>
                  <a:pt x="1267362" y="2543294"/>
                </a:cubicBezTo>
                <a:cubicBezTo>
                  <a:pt x="1308067" y="2550408"/>
                  <a:pt x="1357494" y="2582422"/>
                  <a:pt x="1386568" y="2518395"/>
                </a:cubicBezTo>
                <a:cubicBezTo>
                  <a:pt x="1401105" y="2479267"/>
                  <a:pt x="1331326" y="2408126"/>
                  <a:pt x="1270270" y="2401012"/>
                </a:cubicBezTo>
                <a:cubicBezTo>
                  <a:pt x="1215029" y="2393898"/>
                  <a:pt x="1159787" y="2386784"/>
                  <a:pt x="1107453" y="2401012"/>
                </a:cubicBezTo>
                <a:cubicBezTo>
                  <a:pt x="1043489" y="2418796"/>
                  <a:pt x="1008599" y="2390340"/>
                  <a:pt x="991154" y="2326314"/>
                </a:cubicBezTo>
                <a:cubicBezTo>
                  <a:pt x="970802" y="2258731"/>
                  <a:pt x="933005" y="2223159"/>
                  <a:pt x="880671" y="2191146"/>
                </a:cubicBezTo>
                <a:cubicBezTo>
                  <a:pt x="752743" y="2112891"/>
                  <a:pt x="630630" y="2020407"/>
                  <a:pt x="491072" y="1974165"/>
                </a:cubicBezTo>
                <a:cubicBezTo>
                  <a:pt x="464905" y="1967051"/>
                  <a:pt x="432923" y="1952823"/>
                  <a:pt x="421293" y="1892353"/>
                </a:cubicBezTo>
                <a:cubicBezTo>
                  <a:pt x="799262" y="1984836"/>
                  <a:pt x="1142342" y="2223159"/>
                  <a:pt x="1531941" y="2208931"/>
                </a:cubicBezTo>
                <a:cubicBezTo>
                  <a:pt x="1427272" y="2134233"/>
                  <a:pt x="1302252" y="2130676"/>
                  <a:pt x="1188861" y="2077320"/>
                </a:cubicBezTo>
                <a:cubicBezTo>
                  <a:pt x="1270270" y="2038192"/>
                  <a:pt x="1345864" y="2080877"/>
                  <a:pt x="1421458" y="2102219"/>
                </a:cubicBezTo>
                <a:cubicBezTo>
                  <a:pt x="1485422" y="2120004"/>
                  <a:pt x="1543571" y="2123562"/>
                  <a:pt x="1549386" y="2013292"/>
                </a:cubicBezTo>
                <a:cubicBezTo>
                  <a:pt x="1549386" y="2002622"/>
                  <a:pt x="1549386" y="1995507"/>
                  <a:pt x="1549386" y="1984836"/>
                </a:cubicBezTo>
                <a:cubicBezTo>
                  <a:pt x="1526126" y="1938595"/>
                  <a:pt x="1494144" y="1917252"/>
                  <a:pt x="1453440" y="1903025"/>
                </a:cubicBezTo>
                <a:cubicBezTo>
                  <a:pt x="1430180" y="1895910"/>
                  <a:pt x="1398198" y="1881683"/>
                  <a:pt x="1398198" y="1849668"/>
                </a:cubicBezTo>
                <a:cubicBezTo>
                  <a:pt x="1401105" y="1728729"/>
                  <a:pt x="1322604" y="1693158"/>
                  <a:pt x="1247011" y="1657587"/>
                </a:cubicBezTo>
                <a:cubicBezTo>
                  <a:pt x="1287715" y="1597117"/>
                  <a:pt x="1322604" y="1639802"/>
                  <a:pt x="1354586" y="1636245"/>
                </a:cubicBezTo>
                <a:cubicBezTo>
                  <a:pt x="1374939" y="1632688"/>
                  <a:pt x="1395290" y="1629132"/>
                  <a:pt x="1395290" y="1597117"/>
                </a:cubicBezTo>
                <a:cubicBezTo>
                  <a:pt x="1395290" y="1572219"/>
                  <a:pt x="1386568" y="1540204"/>
                  <a:pt x="1366216" y="1540204"/>
                </a:cubicBezTo>
                <a:cubicBezTo>
                  <a:pt x="1238288" y="1536647"/>
                  <a:pt x="1165601" y="1365909"/>
                  <a:pt x="1031858" y="1365909"/>
                </a:cubicBezTo>
                <a:cubicBezTo>
                  <a:pt x="950450" y="1365909"/>
                  <a:pt x="1072563" y="1269868"/>
                  <a:pt x="1005692" y="1230741"/>
                </a:cubicBezTo>
                <a:cubicBezTo>
                  <a:pt x="991154" y="1220069"/>
                  <a:pt x="1046396" y="1205842"/>
                  <a:pt x="1069655" y="1209399"/>
                </a:cubicBezTo>
                <a:cubicBezTo>
                  <a:pt x="1092915" y="1212955"/>
                  <a:pt x="1113268" y="1237855"/>
                  <a:pt x="1142342" y="1220069"/>
                </a:cubicBezTo>
                <a:cubicBezTo>
                  <a:pt x="1156879" y="1156043"/>
                  <a:pt x="1119082" y="1131144"/>
                  <a:pt x="1084193" y="1113358"/>
                </a:cubicBezTo>
                <a:cubicBezTo>
                  <a:pt x="1008599" y="1070674"/>
                  <a:pt x="933005" y="1020875"/>
                  <a:pt x="848689" y="1006647"/>
                </a:cubicBezTo>
                <a:cubicBezTo>
                  <a:pt x="819615" y="1003089"/>
                  <a:pt x="802169" y="985305"/>
                  <a:pt x="805077" y="949734"/>
                </a:cubicBezTo>
                <a:cubicBezTo>
                  <a:pt x="810892" y="903491"/>
                  <a:pt x="839967" y="917720"/>
                  <a:pt x="863226" y="921277"/>
                </a:cubicBezTo>
                <a:cubicBezTo>
                  <a:pt x="877764" y="924835"/>
                  <a:pt x="892301" y="935506"/>
                  <a:pt x="906838" y="910606"/>
                </a:cubicBezTo>
                <a:cubicBezTo>
                  <a:pt x="566666" y="658055"/>
                  <a:pt x="386404" y="672284"/>
                  <a:pt x="5527" y="465975"/>
                </a:cubicBezTo>
                <a:cubicBezTo>
                  <a:pt x="89843" y="426847"/>
                  <a:pt x="150900" y="455303"/>
                  <a:pt x="209049" y="462417"/>
                </a:cubicBezTo>
                <a:cubicBezTo>
                  <a:pt x="354422" y="480203"/>
                  <a:pt x="264290" y="512216"/>
                  <a:pt x="409664" y="533558"/>
                </a:cubicBezTo>
                <a:cubicBezTo>
                  <a:pt x="479443" y="544229"/>
                  <a:pt x="543407" y="579800"/>
                  <a:pt x="621908" y="522887"/>
                </a:cubicBezTo>
                <a:cubicBezTo>
                  <a:pt x="674242" y="483759"/>
                  <a:pt x="758558" y="526444"/>
                  <a:pt x="822522" y="558458"/>
                </a:cubicBezTo>
                <a:cubicBezTo>
                  <a:pt x="874856" y="586915"/>
                  <a:pt x="927190" y="594028"/>
                  <a:pt x="996969" y="558458"/>
                </a:cubicBezTo>
                <a:cubicBezTo>
                  <a:pt x="933005" y="537116"/>
                  <a:pt x="883579" y="519330"/>
                  <a:pt x="834151" y="505101"/>
                </a:cubicBezTo>
                <a:cubicBezTo>
                  <a:pt x="793447" y="494431"/>
                  <a:pt x="770187" y="469532"/>
                  <a:pt x="773095" y="416176"/>
                </a:cubicBezTo>
                <a:cubicBezTo>
                  <a:pt x="773095" y="387720"/>
                  <a:pt x="764373" y="348592"/>
                  <a:pt x="793447" y="334364"/>
                </a:cubicBezTo>
                <a:cubicBezTo>
                  <a:pt x="816707" y="320135"/>
                  <a:pt x="848689" y="334364"/>
                  <a:pt x="860319" y="359262"/>
                </a:cubicBezTo>
                <a:cubicBezTo>
                  <a:pt x="874856" y="405504"/>
                  <a:pt x="889393" y="448189"/>
                  <a:pt x="938820" y="451747"/>
                </a:cubicBezTo>
                <a:cubicBezTo>
                  <a:pt x="1005692" y="458860"/>
                  <a:pt x="967894" y="430405"/>
                  <a:pt x="956265" y="394834"/>
                </a:cubicBezTo>
                <a:cubicBezTo>
                  <a:pt x="944635" y="355706"/>
                  <a:pt x="979525" y="345034"/>
                  <a:pt x="1002784" y="352148"/>
                </a:cubicBezTo>
                <a:cubicBezTo>
                  <a:pt x="1090008" y="384162"/>
                  <a:pt x="1180139" y="327250"/>
                  <a:pt x="1270270" y="373491"/>
                </a:cubicBezTo>
                <a:cubicBezTo>
                  <a:pt x="1247011" y="259665"/>
                  <a:pt x="1197583" y="209867"/>
                  <a:pt x="1092915" y="192082"/>
                </a:cubicBezTo>
                <a:cubicBezTo>
                  <a:pt x="1055118" y="188525"/>
                  <a:pt x="1014414" y="195638"/>
                  <a:pt x="979525" y="163625"/>
                </a:cubicBezTo>
                <a:cubicBezTo>
                  <a:pt x="959172" y="145839"/>
                  <a:pt x="938820" y="124497"/>
                  <a:pt x="953358" y="88927"/>
                </a:cubicBezTo>
                <a:cubicBezTo>
                  <a:pt x="962080" y="64027"/>
                  <a:pt x="985339" y="64027"/>
                  <a:pt x="1005692" y="71141"/>
                </a:cubicBezTo>
                <a:cubicBezTo>
                  <a:pt x="1090008" y="110269"/>
                  <a:pt x="1180139" y="120941"/>
                  <a:pt x="1267362" y="135168"/>
                </a:cubicBezTo>
                <a:cubicBezTo>
                  <a:pt x="1281900" y="138725"/>
                  <a:pt x="1296437" y="145839"/>
                  <a:pt x="1310975" y="110269"/>
                </a:cubicBezTo>
                <a:cubicBezTo>
                  <a:pt x="1209214" y="78255"/>
                  <a:pt x="1110360" y="35571"/>
                  <a:pt x="1008599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2D2C3-42A7-BF29-BC0B-27F74705E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749"/>
            <a:ext cx="4953001" cy="472650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Trial Evaluation: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81D71-A41E-FFFD-A77B-01DF48FCA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38022" y="713313"/>
            <a:ext cx="3815778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/>
              <a:t> Based on Mixed Outcomes:</a:t>
            </a:r>
          </a:p>
          <a:p>
            <a:endParaRPr lang="en-US" sz="1600"/>
          </a:p>
          <a:p>
            <a:r>
              <a:rPr lang="en-US" sz="1600"/>
              <a:t> HIGH PRIORITY: Roll out trial strategy to stores similar to Stores 86 &amp; 88</a:t>
            </a:r>
          </a:p>
          <a:p>
            <a:endParaRPr lang="en-US" sz="1600"/>
          </a:p>
          <a:p>
            <a:r>
              <a:rPr lang="en-US" sz="1600"/>
              <a:t> MEDIUM PRIORITY: Investigate why Store 77 underperformed</a:t>
            </a:r>
          </a:p>
          <a:p>
            <a:endParaRPr lang="en-US" sz="1600"/>
          </a:p>
          <a:p>
            <a:r>
              <a:rPr lang="en-US" sz="1600"/>
              <a:t> MEDIUM PRIORITY: Improve control store matching (include customer demographics)</a:t>
            </a:r>
          </a:p>
          <a:p>
            <a:endParaRPr lang="en-US" sz="1600"/>
          </a:p>
          <a:p>
            <a:r>
              <a:rPr lang="en-US" sz="1600"/>
              <a:t> LOW PRIORITY: Extend trial period for more robust validation</a:t>
            </a:r>
          </a:p>
          <a:p>
            <a:endParaRPr lang="en-US" sz="1600"/>
          </a:p>
          <a:p>
            <a:r>
              <a:rPr lang="en-US" sz="1600"/>
              <a:t> CONCLUSION: Strategy should be selectively scaled, not fully rolled out</a:t>
            </a:r>
          </a:p>
        </p:txBody>
      </p:sp>
    </p:spTree>
    <p:extLst>
      <p:ext uri="{BB962C8B-B14F-4D97-AF65-F5344CB8AC3E}">
        <p14:creationId xmlns:p14="http://schemas.microsoft.com/office/powerpoint/2010/main" val="3781294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BF332-B091-DD07-0C5C-B38AEFABF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Strategic Recommendations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57559-0045-85D7-C556-71A353554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 b="1" dirty="0"/>
              <a:t> Target the 'Mainstream' Growth </a:t>
            </a:r>
            <a:r>
              <a:rPr lang="en-US" sz="1900" dirty="0"/>
              <a:t>Engine   No deep discounts. Focus on brand-led innovation and new flavors</a:t>
            </a:r>
          </a:p>
          <a:p>
            <a:endParaRPr lang="en-US" sz="1900" dirty="0"/>
          </a:p>
          <a:p>
            <a:r>
              <a:rPr lang="en-US" sz="1900" b="1" dirty="0"/>
              <a:t>Optimize 175g 'Sweet Spot' Portfolio</a:t>
            </a:r>
          </a:p>
          <a:p>
            <a:pPr marL="0" indent="0">
              <a:buNone/>
            </a:pPr>
            <a:r>
              <a:rPr lang="en-US" sz="1900" dirty="0"/>
              <a:t> Maximum shelf space for Kettle, Doritos in 175g format</a:t>
            </a:r>
          </a:p>
          <a:p>
            <a:endParaRPr lang="en-US" sz="1900" dirty="0"/>
          </a:p>
          <a:p>
            <a:r>
              <a:rPr lang="en-US" sz="1900" dirty="0"/>
              <a:t> </a:t>
            </a:r>
            <a:r>
              <a:rPr lang="en-US" sz="1900" b="1" dirty="0"/>
              <a:t>Segment-Specific Execution</a:t>
            </a:r>
          </a:p>
          <a:p>
            <a:pPr marL="0" indent="0">
              <a:buNone/>
            </a:pPr>
            <a:r>
              <a:rPr lang="en-US" sz="1900" dirty="0"/>
              <a:t> Families: Multi-buy promotions, </a:t>
            </a:r>
          </a:p>
          <a:p>
            <a:pPr marL="0" indent="0">
              <a:buNone/>
            </a:pPr>
            <a:r>
              <a:rPr lang="en-US" sz="1900" dirty="0"/>
              <a:t> Premium: Curated boutique brands</a:t>
            </a:r>
          </a:p>
          <a:p>
            <a:endParaRPr lang="en-US" sz="1900" dirty="0"/>
          </a:p>
          <a:p>
            <a:r>
              <a:rPr lang="en-US" sz="1900" b="1" dirty="0"/>
              <a:t> Selective Trial Scaling</a:t>
            </a:r>
          </a:p>
          <a:p>
            <a:pPr marL="0" indent="0">
              <a:buNone/>
            </a:pPr>
            <a:r>
              <a:rPr lang="en-US" sz="1900" dirty="0"/>
              <a:t>Roll out to stores like 86 &amp; 88, investigate 77 further</a:t>
            </a:r>
          </a:p>
        </p:txBody>
      </p:sp>
    </p:spTree>
    <p:extLst>
      <p:ext uri="{BB962C8B-B14F-4D97-AF65-F5344CB8AC3E}">
        <p14:creationId xmlns:p14="http://schemas.microsoft.com/office/powerpoint/2010/main" val="2618103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E830B1-EBDB-B2AE-6BA4-8C05E100A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Integrity &amp; Methodology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108206B9-EEF1-011E-3A19-993C41578F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6669412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236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C5EBF-E927-47D9-85EE-3415D90CE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F6C45-912C-5D39-9BF1-D1D043D1B8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Questions &amp; Discussion</a:t>
            </a:r>
          </a:p>
          <a:p>
            <a:pPr algn="l"/>
            <a:endParaRPr lang="en-US"/>
          </a:p>
          <a:p>
            <a:pPr algn="l"/>
            <a:r>
              <a:rPr lang="en-US"/>
              <a:t>Data-driven recommendations for Snack Chips Category Growth</a:t>
            </a:r>
          </a:p>
        </p:txBody>
      </p:sp>
    </p:spTree>
    <p:extLst>
      <p:ext uri="{BB962C8B-B14F-4D97-AF65-F5344CB8AC3E}">
        <p14:creationId xmlns:p14="http://schemas.microsoft.com/office/powerpoint/2010/main" val="4200247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694</Words>
  <Application>Microsoft Office PowerPoint</Application>
  <PresentationFormat>Widescreen</PresentationFormat>
  <Paragraphs>98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Snack Chips Category Analysis</vt:lpstr>
      <vt:lpstr>Executive Summary</vt:lpstr>
      <vt:lpstr>Customer Spending: Who Pays Premium Prices?</vt:lpstr>
      <vt:lpstr>Pack Size Analysis: The 175g 'Sweet Spot'</vt:lpstr>
      <vt:lpstr>Top Brands by Total Sales</vt:lpstr>
      <vt:lpstr>QVI Trial Store </vt:lpstr>
      <vt:lpstr>Pre-Trial (Jul 2018–Jan 2019) vs Trial (Feb–Apr 2019).</vt:lpstr>
      <vt:lpstr>Trial Store Analysis: Store 77 vs Control Store 71</vt:lpstr>
      <vt:lpstr>Trial Performance Summary</vt:lpstr>
      <vt:lpstr>Segment-Specific Brand Strategies</vt:lpstr>
      <vt:lpstr>Trial Evaluation: Recommendations</vt:lpstr>
      <vt:lpstr>Strategic Recommendations Summary</vt:lpstr>
      <vt:lpstr>Data Integrity &amp; Methodology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 MPSANE TLHAKODISO NAPE MAHLWELE (202004757)</dc:creator>
  <cp:lastModifiedBy>MR MPSANE TLHAKODISO NAPE MAHLWELE (202004757)</cp:lastModifiedBy>
  <cp:revision>1</cp:revision>
  <dcterms:created xsi:type="dcterms:W3CDTF">2026-04-22T14:34:13Z</dcterms:created>
  <dcterms:modified xsi:type="dcterms:W3CDTF">2026-04-23T07:00:46Z</dcterms:modified>
</cp:coreProperties>
</file>